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p:regular r:id="rId26"/>
      <p:bold r:id="rId27"/>
      <p:italic r:id="rId28"/>
      <p:boldItalic r:id="rId29"/>
    </p:embeddedFont>
    <p:embeddedFont>
      <p:font typeface="Montserrat"/>
      <p:regular r:id="rId30"/>
      <p:bold r:id="rId31"/>
      <p:italic r:id="rId32"/>
      <p:boldItalic r:id="rId33"/>
    </p:embeddedFont>
    <p:embeddedFont>
      <p:font typeface="Lat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fntdata"/><Relationship Id="rId30" Type="http://schemas.openxmlformats.org/officeDocument/2006/relationships/font" Target="fonts/Montserrat-regular.fntdata"/><Relationship Id="rId11" Type="http://schemas.openxmlformats.org/officeDocument/2006/relationships/slide" Target="slides/slide6.xml"/><Relationship Id="rId33" Type="http://schemas.openxmlformats.org/officeDocument/2006/relationships/font" Target="fonts/Montserrat-boldItalic.fntdata"/><Relationship Id="rId10" Type="http://schemas.openxmlformats.org/officeDocument/2006/relationships/slide" Target="slides/slide5.xml"/><Relationship Id="rId32" Type="http://schemas.openxmlformats.org/officeDocument/2006/relationships/font" Target="fonts/Montserrat-italic.fntdata"/><Relationship Id="rId13" Type="http://schemas.openxmlformats.org/officeDocument/2006/relationships/slide" Target="slides/slide8.xml"/><Relationship Id="rId35" Type="http://schemas.openxmlformats.org/officeDocument/2006/relationships/font" Target="fonts/Lato-bold.fntdata"/><Relationship Id="rId12" Type="http://schemas.openxmlformats.org/officeDocument/2006/relationships/slide" Target="slides/slide7.xml"/><Relationship Id="rId34" Type="http://schemas.openxmlformats.org/officeDocument/2006/relationships/font" Target="fonts/Lato-regular.fntdata"/><Relationship Id="rId15" Type="http://schemas.openxmlformats.org/officeDocument/2006/relationships/slide" Target="slides/slide10.xml"/><Relationship Id="rId37" Type="http://schemas.openxmlformats.org/officeDocument/2006/relationships/font" Target="fonts/Lato-boldItalic.fntdata"/><Relationship Id="rId14" Type="http://schemas.openxmlformats.org/officeDocument/2006/relationships/slide" Target="slides/slide9.xml"/><Relationship Id="rId36" Type="http://schemas.openxmlformats.org/officeDocument/2006/relationships/font" Target="fonts/Lato-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to Grader: To view the real contents of this title slide, please view it in slideshow mode!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Everyone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ec387ed57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ec387ed57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Yihan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6257f1a062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6257f1a062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Plotka </a:t>
            </a:r>
            <a:r>
              <a:rPr lang="en"/>
              <a:t>travel</a:t>
            </a:r>
            <a:r>
              <a:rPr lang="en"/>
              <a:t> chatbot has 7 features which it uses to give users an optimized travel plan. The first of these is the Questionnaire, which is where the chatbot asks the user questions that will allow it to generate a plan to cater to their needs. The user can respond to these questions and view that in the box shown in the top right of the slide. The Packing List gives users a list of items which they should pack for their trip, shown in its own box. The Daily Planner shows users a day to day plan for what they could do during their trip, shown in its own box. The </a:t>
            </a:r>
            <a:r>
              <a:rPr lang="en"/>
              <a:t>Restaurant</a:t>
            </a:r>
            <a:r>
              <a:rPr lang="en"/>
              <a:t> </a:t>
            </a:r>
            <a:r>
              <a:rPr lang="en"/>
              <a:t>Recommendations</a:t>
            </a:r>
            <a:r>
              <a:rPr lang="en"/>
              <a:t> feature shows users a list of up to 10 </a:t>
            </a:r>
            <a:r>
              <a:rPr lang="en"/>
              <a:t>restaurants in the area which they can visit on their trip. Similarly, the Hotel Recommendations feature shows users a list of up to 10 hotels in the area which they can stay at on their trip. Each of these are shown in their own boxes as well. The budget feature shows the estimated cost of each activity in the Daily Planner, and also gives a more detailed breakdown in its own box. Finally, the links feature adds links to every restaurant, hotel, and activity shown in the output that has a website. Each of these features helps the chatbot give the user a more tailored experience to their specific needs and requests, while also ensuring that the chatbot can give more accurate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Yihan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ec387ed57d_1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ec387ed57d_1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LIke many other trip planning software and websites, the Plotka Travel chatbot has many benefits. As installable software, it is available to users 24/7. In addition, the chatbot gives quick responses, where in other cases users would have to put in significant time to place their parameters on competing sites. The chatbot also provides personalized recommendations, which will allow users that need special </a:t>
            </a:r>
            <a:r>
              <a:rPr lang="en"/>
              <a:t>accommodations</a:t>
            </a:r>
            <a:r>
              <a:rPr lang="en"/>
              <a:t> or requests. The UI is very simple and easy to use, allowing users to figure out how to use the application with ease. Finally, the application is free to download and use.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ARNAV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ec387ed57d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ec387ed57d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ec387ed57d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ec387ed57d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(HAVE LIVE APPLICATION OPEN BUT NO INPUT TEXT IN IT ON THE SIDE)</a:t>
            </a:r>
            <a:endParaRPr/>
          </a:p>
          <a:p>
            <a:pPr indent="0" lvl="0" marL="0" rtl="0" algn="l">
              <a:spcBef>
                <a:spcPts val="0"/>
              </a:spcBef>
              <a:spcAft>
                <a:spcPts val="0"/>
              </a:spcAft>
              <a:buNone/>
            </a:pPr>
            <a:r>
              <a:rPr lang="en"/>
              <a:t>When developing our application, we prioritized developing our backend first. We knew going into the project that we could be utilizing the ChatGPT API as our chatbot would rely on ChatGPT’s capabilities. We then decided that we would use Python to develop the program as most of us had substantial knowledge of the language and its libraries. We ended up using the Flask, Views, and OpenAI python libraries in our program. The first feature we </a:t>
            </a:r>
            <a:r>
              <a:rPr lang="en"/>
              <a:t>implemented</a:t>
            </a:r>
            <a:r>
              <a:rPr lang="en"/>
              <a:t> was our Questionnaire Feature, which is what allows the user to answer questions provided by the chatbot. The Packing List, </a:t>
            </a:r>
            <a:r>
              <a:rPr lang="en"/>
              <a:t>Restaurant</a:t>
            </a:r>
            <a:r>
              <a:rPr lang="en"/>
              <a:t> </a:t>
            </a:r>
            <a:r>
              <a:rPr lang="en"/>
              <a:t>Recommendations</a:t>
            </a:r>
            <a:r>
              <a:rPr lang="en"/>
              <a:t>, and Hotel </a:t>
            </a:r>
            <a:r>
              <a:rPr lang="en"/>
              <a:t>Recommendations</a:t>
            </a:r>
            <a:r>
              <a:rPr lang="en"/>
              <a:t> features were more or less developed </a:t>
            </a:r>
            <a:r>
              <a:rPr lang="en"/>
              <a:t>simultaneously as they each only relied on the Questionnaire Feature. However, our Daily Planner feature was only implemented once each of the other 3 were completed, as it could only use information from the 3 previous features to provide an accurate output. Finally, our Budget Breakdown Feature was developed after the completion of the Daily Planner, as the budget was created based off of the activities within the Daily Planner.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While developing our backend, we decided to begin light development of the front end to make our own tests of the application more similar to those who would actually use it in the future. Our front end was created using HTML and CSS and showcases the questions asked by the chatbot as well as the user’s answers in a large textbox. Above that we feature our logo. Underneath the textbox we have a small textbox where users can input their answers to the chatbot’s questions. There are also 2 buttons, “Submit” and “Clear Chat”. “Submit” simply feeds the user’s answer from the textbox to the chatbot. This can also be done using the “Enter” key on the keyboard though. The “Clear Chat” button clears the previous inputs given to the chatbot from both memory and the visual textbox representation above. Finally, our front end had to be able to showcase the chatbot’s output. We did this by separating each output into its own section. These sections are Packing List, Daily Planner, Restaurants, Hotels, and Budget Breakdown.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ALEX</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ec387ed57d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ec387ed57d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application utilizes six classes to store, manipulate, and generate information. Our chatbot class is the most complex, which collects the responses </a:t>
            </a:r>
            <a:r>
              <a:rPr lang="en"/>
              <a:t>from the user and generates answers for each feature. The other 5 classes, which are DailyPlanner, PackingList, Hotel, Restaurant, and Budget, take in that information and organize it in a presentable manner, while also parsing it to double check that the chatbot has not made a large error. The 5 smaller classes are declared through a factory method in the chatbot class, which allows the program to efficiently create objects that store user information. This implementation method allows our users to receive information faster.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ALEX</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ec387ed57d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ec387ed57d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application’s front end was fairly simple. It consists of the Plotka logo, an input text box for user responses, interactive buttons that allow the user to submit their </a:t>
            </a:r>
            <a:r>
              <a:rPr lang="en"/>
              <a:t>answers</a:t>
            </a:r>
            <a:r>
              <a:rPr lang="en"/>
              <a:t> or clear previous ones, and output text boxes that displayed the chatbot output in a clear and organized manner. Each output textbox displays its contents in lists to give users a clear view of the answers provided, as paragraph form, which we used </a:t>
            </a:r>
            <a:r>
              <a:rPr lang="en"/>
              <a:t>originally, was a jumbled mess that no one could read.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SLIDE SHOWS THE UI OF THE APPLICATION)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Arnav</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ec387ed57d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ec387ed57d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 this and then move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Arnav</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ec387ed57d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ec387ed57d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Yuecheng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6257f1a062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6257f1a062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our next version, we are considering adding  the new feature and enhancement.</a:t>
            </a:r>
            <a:endParaRPr/>
          </a:p>
          <a:p>
            <a:pPr indent="0" lvl="0" marL="0" rtl="0" algn="l">
              <a:spcBef>
                <a:spcPts val="0"/>
              </a:spcBef>
              <a:spcAft>
                <a:spcPts val="0"/>
              </a:spcAft>
              <a:buNone/>
            </a:pPr>
            <a:r>
              <a:rPr lang="en"/>
              <a:t>Flight Recommendation: </a:t>
            </a:r>
            <a:r>
              <a:rPr lang="en"/>
              <a:t>Given the user's specified destination, start location, and expected departure and arrival times</a:t>
            </a:r>
            <a:r>
              <a:rPr lang="en"/>
              <a:t>, plotka can then help the user to gather flight information. Thus, our</a:t>
            </a:r>
            <a:r>
              <a:rPr lang="en" sz="1200">
                <a:solidFill>
                  <a:srgbClr val="374151"/>
                </a:solidFill>
                <a:latin typeface="Roboto"/>
                <a:ea typeface="Roboto"/>
                <a:cs typeface="Roboto"/>
                <a:sym typeface="Roboto"/>
              </a:rPr>
              <a:t> chatbot will sift through vast databases, considering factors such as cost, duration, and user preferences to create a list of the top 10 flights, ensuring a tailored and efficient travel planning experience.</a:t>
            </a:r>
            <a:endParaRPr/>
          </a:p>
          <a:p>
            <a:pPr indent="0" lvl="0" marL="0" rtl="0" algn="l">
              <a:spcBef>
                <a:spcPts val="0"/>
              </a:spcBef>
              <a:spcAft>
                <a:spcPts val="0"/>
              </a:spcAft>
              <a:buNone/>
            </a:pPr>
            <a:r>
              <a:rPr lang="en"/>
              <a:t>Our </a:t>
            </a:r>
            <a:r>
              <a:rPr lang="en"/>
              <a:t>website's UI enhancement focuses on delivering a modern and intuitive design. A clean, uncluttered interface will enhance the overall user experience, making it easy for both new and returning users to navigate conveniently.</a:t>
            </a:r>
            <a:endParaRPr/>
          </a:p>
          <a:p>
            <a:pPr indent="0" lvl="0" marL="0" rtl="0" algn="l">
              <a:spcBef>
                <a:spcPts val="0"/>
              </a:spcBef>
              <a:spcAft>
                <a:spcPts val="0"/>
              </a:spcAft>
              <a:buNone/>
            </a:pPr>
            <a:r>
              <a:rPr lang="en"/>
              <a:t>Overall, by combining the powerful Flight Recommendation feature with a user-centric UI, Plotka aims to provide a better travel planning solution.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Yuecheng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ec387ed57d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ec387ed57d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Ziqun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6257f1a062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6257f1a062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our product, the front end and back end were developed </a:t>
            </a:r>
            <a:r>
              <a:rPr lang="en"/>
              <a:t>separately</a:t>
            </a:r>
            <a:r>
              <a:rPr lang="en"/>
              <a:t>. In the end, we combined them to create our application. Each person was assigned a </a:t>
            </a:r>
            <a:r>
              <a:rPr lang="en"/>
              <a:t>general</a:t>
            </a:r>
            <a:r>
              <a:rPr lang="en"/>
              <a:t> role related to the application. Yihan and Arnav worked on the front end, Ziqun and Yuecheng worked on the back end, and Anson and Alex worked on testing. We used github to manage our project and had different branches which we later merged to created our main product. New tasks were assigned weekly so that group members clearly knew what they had to do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Ziqun</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a073476101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a073476101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used Github and Github issues to store our code. Github allowed us to view, edit, and share any developments that we made while working on the code. Additionally, we were able to merge files and overwrite old ones, which we had to do whenever someone even made a tiny bit of progress. Github issues allowed us to record, display, and reports any issues that we had </a:t>
            </a:r>
            <a:r>
              <a:rPr lang="en"/>
              <a:t>with the</a:t>
            </a:r>
            <a:r>
              <a:rPr lang="en"/>
              <a:t> software. This includes bugs, opinions on directions things should go, class development, and so on. We also used Pylinter, which is a linter </a:t>
            </a:r>
            <a:r>
              <a:rPr lang="en"/>
              <a:t>that</a:t>
            </a:r>
            <a:r>
              <a:rPr lang="en"/>
              <a:t> was made for python programs. This allowed us to maintain a coding standard across all versions of our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Ziqun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ec387ed57d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ec387ed57d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Anson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6257f1a062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6257f1a062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Regarding what did and didn’t work for us during this project, we can all agree that u</a:t>
            </a:r>
            <a:r>
              <a:rPr lang="en"/>
              <a:t>tilizing</a:t>
            </a:r>
            <a:r>
              <a:rPr lang="en"/>
              <a:t> Trello and Discord was very effective for our group. We were able to efficiently plan out our work and divide tasks </a:t>
            </a:r>
            <a:r>
              <a:rPr lang="en"/>
              <a:t>amongst</a:t>
            </a:r>
            <a:r>
              <a:rPr lang="en"/>
              <a:t> ourselves. This led to very efficient communication which helped with keeping us all on the same page with our goals. Trello was great for keeping our deadlines in check and visualizing our progress so far, while discord was better for our communication as a group.</a:t>
            </a:r>
            <a:endParaRPr/>
          </a:p>
          <a:p>
            <a:pPr indent="0" lvl="0" marL="0" rtl="0" algn="l">
              <a:spcBef>
                <a:spcPts val="0"/>
              </a:spcBef>
              <a:spcAft>
                <a:spcPts val="0"/>
              </a:spcAft>
              <a:buNone/>
            </a:pPr>
            <a:r>
              <a:rPr lang="en"/>
              <a:t>Our weekly meetings were </a:t>
            </a:r>
            <a:r>
              <a:rPr lang="en"/>
              <a:t>also</a:t>
            </a:r>
            <a:r>
              <a:rPr lang="en"/>
              <a:t> very efficient, </a:t>
            </a:r>
            <a:r>
              <a:rPr lang="en"/>
              <a:t>everyone</a:t>
            </a:r>
            <a:r>
              <a:rPr lang="en"/>
              <a:t> was cooperative and when it came to dividing the work amongst ourselves we were more likely to offer help instead of waiting for someone else to jump in. Everyone was also </a:t>
            </a:r>
            <a:r>
              <a:rPr lang="en"/>
              <a:t>very eager to express their vision for how the project should be developed. Even when we had disagreements regarding how a feature was to be developed, we were able to reach a compromise and work with each other instead of shutting out someone’s idea.</a:t>
            </a:r>
            <a:endParaRPr/>
          </a:p>
          <a:p>
            <a:pPr indent="0" lvl="0" marL="0" rtl="0" algn="l">
              <a:spcBef>
                <a:spcPts val="0"/>
              </a:spcBef>
              <a:spcAft>
                <a:spcPts val="0"/>
              </a:spcAft>
              <a:buNone/>
            </a:pPr>
            <a:r>
              <a:rPr lang="en"/>
              <a:t>Choosing languages that we were all moderately comfortable with also played a part in making sure this project went smoothly. We were all comfortable reading through the code and finding any syntax errors or alternative ways to implement features. If we were to have picked languages only one or two members were comfortable with I don’t think we would’ve found the same success in our project.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for what </a:t>
            </a:r>
            <a:r>
              <a:rPr lang="en"/>
              <a:t>didn't</a:t>
            </a:r>
            <a:r>
              <a:rPr lang="en"/>
              <a:t> work, Our coding collaboration wasn’t exactly ideal and we </a:t>
            </a:r>
            <a:r>
              <a:rPr lang="en"/>
              <a:t>could have</a:t>
            </a:r>
            <a:r>
              <a:rPr lang="en"/>
              <a:t> better utilized github for keeping a well maintained codebase. The linter was helpful in making sure the code was styled correctly despite the differences between branches, but there should have been a better structured main branch earlier in the project. Luckily this didn’t set up back a crazy amount, but it was tricky to deal with in some versions of the release.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Overall I think that each step we took in our project was a step forward, there were some times where things</a:t>
            </a:r>
            <a:r>
              <a:rPr lang="en"/>
              <a:t> we slow and we getting instant results but we were never ruining our progress made. So if I were to go back and do things differently I don’t think I would make a drastic change.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Ans</a:t>
            </a:r>
            <a:r>
              <a:rPr lang="en"/>
              <a:t>on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a073476101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a073476101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one of the most useful tools for our project, i’d like to talk a bit about Trello. Trello acted like a calendar </a:t>
            </a:r>
            <a:r>
              <a:rPr lang="en"/>
              <a:t>which allowed us to see due dates, assignment names, and their description (which was taken directly from the syllabus). We also were able to check off individual assignments when they were completed, letting group members know that this portion of the deliverables were completed. We chose to use this website to keep track of our assignments because it was free, simple to use, and had a very navigable and straightforward user interface, a</a:t>
            </a:r>
            <a:r>
              <a:rPr lang="en">
                <a:solidFill>
                  <a:schemeClr val="dk1"/>
                </a:solidFill>
              </a:rPr>
              <a:t>nd we believed that having a reliable way to keep ourselves accountable would help us all to meet deadlines and stay on top of work</a:t>
            </a:r>
            <a:r>
              <a:rPr lang="en"/>
              <a:t>. As for discord, we won’t go into that because I HOPE everyone here knows about discord and its features. (get a show of hands of people who have used discord before, and people who used discord during this project).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ANSON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ec387ed57d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ec387ed57d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Everyone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6257f1a062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6257f1a062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Alex: </a:t>
            </a:r>
            <a:r>
              <a:rPr lang="en"/>
              <a:t>In this course I gained an </a:t>
            </a:r>
            <a:r>
              <a:rPr lang="en"/>
              <a:t>understanding</a:t>
            </a:r>
            <a:r>
              <a:rPr lang="en"/>
              <a:t> of the Scrum methodology and learned about common documentation practices such as Business cases, Personas, User Scenarios, and User Stories. I also learned a great bit about collaborating with a group for a coding project, as I had never done that before.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Anson: </a:t>
            </a:r>
            <a:r>
              <a:rPr lang="en"/>
              <a:t>I enjoyed being able to see something go from an idea into a tangible final product. Learning that there is so much more to a project than just the code itself gave me a brand new </a:t>
            </a:r>
            <a:r>
              <a:rPr lang="en"/>
              <a:t>perspective</a:t>
            </a:r>
            <a:r>
              <a:rPr lang="en"/>
              <a:t> on project development and how much thought needs to go into planning and testing.</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Arnav: </a:t>
            </a:r>
            <a:r>
              <a:rPr lang="en"/>
              <a:t>This class taught me a lot about the scrum </a:t>
            </a:r>
            <a:r>
              <a:rPr lang="en"/>
              <a:t>methodology</a:t>
            </a:r>
            <a:r>
              <a:rPr lang="en"/>
              <a:t> as well. This was my first ever time using this methodology and I feel like it has prepared me really well for my future in computer science. I feel like I can work on different projects with bigger team and have a strong understanding on how to </a:t>
            </a:r>
            <a:r>
              <a:rPr lang="en"/>
              <a:t>collaborate</a:t>
            </a:r>
            <a:r>
              <a:rPr lang="en"/>
              <a:t> and develop something efficiently to reduce the strain on the overall team.</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Yuecheng: </a:t>
            </a:r>
            <a:r>
              <a:rPr lang="en"/>
              <a:t>In the Software Design &amp; Documentation course's group project, I not only improved my practical coding abilities but also gained valuable insights into effective communication and collaboration with team members. Above all, I realized the crucial importance of thorough documentation for the success of a project.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Ziqun: </a:t>
            </a:r>
            <a:r>
              <a:rPr lang="en"/>
              <a:t>In previous classes, </a:t>
            </a:r>
            <a:r>
              <a:rPr lang="en"/>
              <a:t>mostly</a:t>
            </a:r>
            <a:r>
              <a:rPr lang="en"/>
              <a:t> what I did were individual homework or simple group work, which I think is far away from what we will face in real life.   However, in this class, I learned a lot about how to complete an entire project with my team members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Yihan: </a:t>
            </a:r>
            <a:r>
              <a:rPr lang="en">
                <a:solidFill>
                  <a:schemeClr val="dk1"/>
                </a:solidFill>
              </a:rPr>
              <a:t>In the past, I like to complete tasks alone, but I realize that cooperation is very important. After all, one person cannot master all the skills, and only communication can acquire new knowledge.</a:t>
            </a:r>
            <a:endParaRPr b="1" sz="1300">
              <a:solidFill>
                <a:schemeClr val="l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rPr lang="en"/>
              <a:t>EVERYONE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ec387ed57d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ec387ed57d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cms.rootstack.com/sites/default/files/inline-images/Python-Symbol_1.png" TargetMode="External"/><Relationship Id="rId4" Type="http://schemas.openxmlformats.org/officeDocument/2006/relationships/hyperlink" Target="https://blog.logomyway.com/wp-content/uploads/2023/08/chatgpt-logo.png" TargetMode="External"/><Relationship Id="rId10" Type="http://schemas.openxmlformats.org/officeDocument/2006/relationships/hyperlink" Target="https://1000logos.net/wp-content/uploads/2021/05/GitHub-logo.png" TargetMode="External"/><Relationship Id="rId9" Type="http://schemas.openxmlformats.org/officeDocument/2006/relationships/hyperlink" Target="https://www.lflegal.com/wp-content/uploads/2021/09/discord-new-logo.jpg" TargetMode="External"/><Relationship Id="rId5" Type="http://schemas.openxmlformats.org/officeDocument/2006/relationships/hyperlink" Target="https://miro.medium.com/v2/resize:fit:1200/0*pxb9-4jdzxSp1K5Y.png" TargetMode="External"/><Relationship Id="rId6" Type="http://schemas.openxmlformats.org/officeDocument/2006/relationships/hyperlink" Target="https://encrypted-tbn0.gstatic.com/images?q=tbn:ANd9GcTGvBkbnHUDax7JvpD-qs8Y_MKrD8ncQfJDSw&amp;usqp=CAU" TargetMode="External"/><Relationship Id="rId7" Type="http://schemas.openxmlformats.org/officeDocument/2006/relationships/hyperlink" Target="https://www.teambonding.com/wp-content/uploads/2022/02/Depositphotos_79692920_L.jpg" TargetMode="External"/><Relationship Id="rId8" Type="http://schemas.openxmlformats.org/officeDocument/2006/relationships/hyperlink" Target="https://encrypted-tbn0.gstatic.com/images?q=tbn:ANd9GcQ7d7pBYgG7CVXeqI4_0ZgG7CaZaeb9wr6KPg&amp;usqp=CAU"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p:nvPr/>
        </p:nvSpPr>
        <p:spPr>
          <a:xfrm>
            <a:off x="624850" y="2571750"/>
            <a:ext cx="2286000" cy="22212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5" name="Google Shape;135;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Plotka Final Release Presentation</a:t>
            </a:r>
            <a:endParaRPr/>
          </a:p>
        </p:txBody>
      </p:sp>
      <p:sp>
        <p:nvSpPr>
          <p:cNvPr id="136" name="Google Shape;136;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Alex Litchfield, Anson Decker, Arnav Pawar, Yuecheng Liu, Ziqun Wang, Yihan Shao</a:t>
            </a:r>
            <a:endParaRPr/>
          </a:p>
        </p:txBody>
      </p:sp>
      <p:pic>
        <p:nvPicPr>
          <p:cNvPr id="137" name="Google Shape;137;p13"/>
          <p:cNvPicPr preferRelativeResize="0"/>
          <p:nvPr/>
        </p:nvPicPr>
        <p:blipFill>
          <a:blip r:embed="rId3">
            <a:alphaModFix/>
          </a:blip>
          <a:stretch>
            <a:fillRect/>
          </a:stretch>
        </p:blipFill>
        <p:spPr>
          <a:xfrm>
            <a:off x="421650" y="2541150"/>
            <a:ext cx="2856600" cy="2282400"/>
          </a:xfrm>
          <a:prstGeom prst="rect">
            <a:avLst/>
          </a:prstGeom>
          <a:noFill/>
          <a:ln>
            <a:noFill/>
          </a:ln>
        </p:spPr>
      </p:pic>
      <p:sp>
        <p:nvSpPr>
          <p:cNvPr id="138" name="Google Shape;138;p13"/>
          <p:cNvSpPr/>
          <p:nvPr/>
        </p:nvSpPr>
        <p:spPr>
          <a:xfrm rot="3039822">
            <a:off x="1982918" y="3106475"/>
            <a:ext cx="51588" cy="673111"/>
          </a:xfrm>
          <a:prstGeom prst="rect">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9" name="Google Shape;139;p13"/>
          <p:cNvSpPr/>
          <p:nvPr/>
        </p:nvSpPr>
        <p:spPr>
          <a:xfrm rot="3039822">
            <a:off x="1742068" y="3345800"/>
            <a:ext cx="51588" cy="673111"/>
          </a:xfrm>
          <a:prstGeom prst="rect">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0" name="Google Shape;140;p13"/>
          <p:cNvSpPr/>
          <p:nvPr/>
        </p:nvSpPr>
        <p:spPr>
          <a:xfrm rot="3039822">
            <a:off x="1360618" y="3690675"/>
            <a:ext cx="51588" cy="673111"/>
          </a:xfrm>
          <a:prstGeom prst="rect">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 name="Google Shape;141;p13"/>
          <p:cNvSpPr/>
          <p:nvPr/>
        </p:nvSpPr>
        <p:spPr>
          <a:xfrm rot="3039822">
            <a:off x="1055818" y="3970075"/>
            <a:ext cx="51588" cy="673111"/>
          </a:xfrm>
          <a:prstGeom prst="rect">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2" name="Google Shape;142;p13"/>
          <p:cNvSpPr/>
          <p:nvPr/>
        </p:nvSpPr>
        <p:spPr>
          <a:xfrm rot="3039822">
            <a:off x="672918" y="4327275"/>
            <a:ext cx="51588" cy="673111"/>
          </a:xfrm>
          <a:prstGeom prst="rect">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3" name="Google Shape;143;p13"/>
          <p:cNvSpPr/>
          <p:nvPr/>
        </p:nvSpPr>
        <p:spPr>
          <a:xfrm rot="3039822">
            <a:off x="251268" y="4689200"/>
            <a:ext cx="51588" cy="673111"/>
          </a:xfrm>
          <a:prstGeom prst="rect">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4" name="Google Shape;144;p13"/>
          <p:cNvSpPr/>
          <p:nvPr/>
        </p:nvSpPr>
        <p:spPr>
          <a:xfrm>
            <a:off x="50" y="0"/>
            <a:ext cx="9144000" cy="5143500"/>
          </a:xfrm>
          <a:prstGeom prst="rect">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
                                        <p:tgtEl>
                                          <p:spTgt spid="139"/>
                                        </p:tgtEl>
                                      </p:cBhvr>
                                    </p:animEffect>
                                  </p:childTnLst>
                                </p:cTn>
                              </p:par>
                            </p:childTnLst>
                          </p:cTn>
                        </p:par>
                        <p:par>
                          <p:cTn fill="hold">
                            <p:stCondLst>
                              <p:cond delay="100"/>
                            </p:stCondLst>
                            <p:childTnLst>
                              <p:par>
                                <p:cTn fill="hold" nodeType="after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
                                        <p:tgtEl>
                                          <p:spTgt spid="140"/>
                                        </p:tgtEl>
                                      </p:cBhvr>
                                    </p:animEffect>
                                  </p:childTnLst>
                                </p:cTn>
                              </p:par>
                            </p:childTnLst>
                          </p:cTn>
                        </p:par>
                        <p:par>
                          <p:cTn fill="hold">
                            <p:stCondLst>
                              <p:cond delay="200"/>
                            </p:stCondLst>
                            <p:childTnLst>
                              <p:par>
                                <p:cTn fill="hold" nodeType="after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
                                        <p:tgtEl>
                                          <p:spTgt spid="141"/>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
                                        <p:tgtEl>
                                          <p:spTgt spid="142"/>
                                        </p:tgtEl>
                                      </p:cBhvr>
                                    </p:animEffect>
                                  </p:childTnLst>
                                </p:cTn>
                              </p:par>
                            </p:childTnLst>
                          </p:cTn>
                        </p:par>
                        <p:par>
                          <p:cTn fill="hold">
                            <p:stCondLst>
                              <p:cond delay="400"/>
                            </p:stCondLst>
                            <p:childTnLst>
                              <p:par>
                                <p:cTn fill="hold" nodeType="after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
                                        <p:tgtEl>
                                          <p:spTgt spid="14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4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4"/>
          <p:cNvSpPr txBox="1"/>
          <p:nvPr>
            <p:ph type="title"/>
          </p:nvPr>
        </p:nvSpPr>
        <p:spPr>
          <a:xfrm>
            <a:off x="3354450" y="919550"/>
            <a:ext cx="24351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100"/>
              <a:t>Marketing</a:t>
            </a:r>
            <a:endParaRPr b="1" sz="3100"/>
          </a:p>
        </p:txBody>
      </p:sp>
      <p:sp>
        <p:nvSpPr>
          <p:cNvPr id="150" name="Google Shape;150;p14"/>
          <p:cNvSpPr/>
          <p:nvPr/>
        </p:nvSpPr>
        <p:spPr>
          <a:xfrm>
            <a:off x="2059675" y="2393450"/>
            <a:ext cx="1485900" cy="145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Features</a:t>
            </a:r>
            <a:endParaRPr b="1">
              <a:latin typeface="Lato"/>
              <a:ea typeface="Lato"/>
              <a:cs typeface="Lato"/>
              <a:sym typeface="Lato"/>
            </a:endParaRPr>
          </a:p>
        </p:txBody>
      </p:sp>
      <p:sp>
        <p:nvSpPr>
          <p:cNvPr id="151" name="Google Shape;151;p14"/>
          <p:cNvSpPr/>
          <p:nvPr/>
        </p:nvSpPr>
        <p:spPr>
          <a:xfrm>
            <a:off x="5789550" y="2393450"/>
            <a:ext cx="1485900" cy="1451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Benefits</a:t>
            </a:r>
            <a:endParaRPr b="1">
              <a:latin typeface="Lato"/>
              <a:ea typeface="Lato"/>
              <a:cs typeface="Lato"/>
              <a:sym typeface="Lato"/>
            </a:endParaRPr>
          </a:p>
        </p:txBody>
      </p:sp>
      <p:sp>
        <p:nvSpPr>
          <p:cNvPr id="152" name="Google Shape;152;p14"/>
          <p:cNvSpPr/>
          <p:nvPr/>
        </p:nvSpPr>
        <p:spPr>
          <a:xfrm>
            <a:off x="3924613" y="2644900"/>
            <a:ext cx="1485900" cy="617100"/>
          </a:xfrm>
          <a:prstGeom prst="rightArrow">
            <a:avLst>
              <a:gd fmla="val 50000" name="adj1"/>
              <a:gd fmla="val 50000" name="adj2"/>
            </a:avLst>
          </a:prstGeom>
          <a:solidFill>
            <a:srgbClr val="FF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150"/>
                                        </p:tgtEl>
                                        <p:attrNameLst>
                                          <p:attrName>style.visibility</p:attrName>
                                        </p:attrNameLst>
                                      </p:cBhvr>
                                      <p:to>
                                        <p:strVal val="visible"/>
                                      </p:to>
                                    </p:set>
                                    <p:anim calcmode="lin" valueType="num">
                                      <p:cBhvr additive="base">
                                        <p:cTn dur="1000"/>
                                        <p:tgtEl>
                                          <p:spTgt spid="15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51"/>
                                        </p:tgtEl>
                                        <p:attrNameLst>
                                          <p:attrName>style.visibility</p:attrName>
                                        </p:attrNameLst>
                                      </p:cBhvr>
                                      <p:to>
                                        <p:strVal val="visible"/>
                                      </p:to>
                                    </p:set>
                                    <p:anim calcmode="lin" valueType="num">
                                      <p:cBhvr additive="base">
                                        <p:cTn dur="1000"/>
                                        <p:tgtEl>
                                          <p:spTgt spid="151"/>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1000"/>
                                        <p:tgtEl>
                                          <p:spTgt spid="1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Features</a:t>
            </a:r>
            <a:endParaRPr/>
          </a:p>
        </p:txBody>
      </p:sp>
      <p:sp>
        <p:nvSpPr>
          <p:cNvPr id="158" name="Google Shape;158;p15"/>
          <p:cNvSpPr txBox="1"/>
          <p:nvPr>
            <p:ph idx="1" type="body"/>
          </p:nvPr>
        </p:nvSpPr>
        <p:spPr>
          <a:xfrm>
            <a:off x="1297500" y="1242475"/>
            <a:ext cx="30657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AutoNum type="arabicPeriod"/>
            </a:pPr>
            <a:r>
              <a:rPr lang="en"/>
              <a:t>Questionnaire</a:t>
            </a:r>
            <a:endParaRPr/>
          </a:p>
          <a:p>
            <a:pPr indent="-311150" lvl="0" marL="457200" rtl="0" algn="l">
              <a:spcBef>
                <a:spcPts val="0"/>
              </a:spcBef>
              <a:spcAft>
                <a:spcPts val="0"/>
              </a:spcAft>
              <a:buSzPts val="1300"/>
              <a:buAutoNum type="arabicPeriod"/>
            </a:pPr>
            <a:r>
              <a:rPr lang="en"/>
              <a:t>Packing List</a:t>
            </a:r>
            <a:endParaRPr/>
          </a:p>
          <a:p>
            <a:pPr indent="-311150" lvl="0" marL="457200" rtl="0" algn="l">
              <a:spcBef>
                <a:spcPts val="0"/>
              </a:spcBef>
              <a:spcAft>
                <a:spcPts val="0"/>
              </a:spcAft>
              <a:buSzPts val="1300"/>
              <a:buAutoNum type="arabicPeriod"/>
            </a:pPr>
            <a:r>
              <a:rPr lang="en"/>
              <a:t>Daily Planner</a:t>
            </a:r>
            <a:endParaRPr/>
          </a:p>
          <a:p>
            <a:pPr indent="-311150" lvl="0" marL="457200" rtl="0" algn="l">
              <a:spcBef>
                <a:spcPts val="0"/>
              </a:spcBef>
              <a:spcAft>
                <a:spcPts val="0"/>
              </a:spcAft>
              <a:buSzPts val="1300"/>
              <a:buAutoNum type="arabicPeriod"/>
            </a:pPr>
            <a:r>
              <a:rPr lang="en"/>
              <a:t>Restaurant </a:t>
            </a:r>
            <a:r>
              <a:rPr lang="en"/>
              <a:t>Recommendations</a:t>
            </a:r>
            <a:endParaRPr/>
          </a:p>
          <a:p>
            <a:pPr indent="-311150" lvl="0" marL="457200" rtl="0" algn="l">
              <a:spcBef>
                <a:spcPts val="0"/>
              </a:spcBef>
              <a:spcAft>
                <a:spcPts val="0"/>
              </a:spcAft>
              <a:buSzPts val="1300"/>
              <a:buAutoNum type="arabicPeriod"/>
            </a:pPr>
            <a:r>
              <a:rPr lang="en"/>
              <a:t>Hotel Recommendations</a:t>
            </a:r>
            <a:endParaRPr/>
          </a:p>
          <a:p>
            <a:pPr indent="-311150" lvl="0" marL="457200" rtl="0" algn="l">
              <a:spcBef>
                <a:spcPts val="0"/>
              </a:spcBef>
              <a:spcAft>
                <a:spcPts val="0"/>
              </a:spcAft>
              <a:buSzPts val="1300"/>
              <a:buAutoNum type="arabicPeriod"/>
            </a:pPr>
            <a:r>
              <a:rPr lang="en"/>
              <a:t>Budget</a:t>
            </a:r>
            <a:endParaRPr/>
          </a:p>
          <a:p>
            <a:pPr indent="-311150" lvl="0" marL="457200" rtl="0" algn="l">
              <a:spcBef>
                <a:spcPts val="0"/>
              </a:spcBef>
              <a:spcAft>
                <a:spcPts val="0"/>
              </a:spcAft>
              <a:buSzPts val="1300"/>
              <a:buAutoNum type="arabicPeriod"/>
            </a:pPr>
            <a:r>
              <a:rPr lang="en"/>
              <a:t>Links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59" name="Google Shape;159;p15"/>
          <p:cNvPicPr preferRelativeResize="0"/>
          <p:nvPr/>
        </p:nvPicPr>
        <p:blipFill>
          <a:blip r:embed="rId3">
            <a:alphaModFix/>
          </a:blip>
          <a:stretch>
            <a:fillRect/>
          </a:stretch>
        </p:blipFill>
        <p:spPr>
          <a:xfrm>
            <a:off x="6441449" y="393750"/>
            <a:ext cx="2168550" cy="2263200"/>
          </a:xfrm>
          <a:prstGeom prst="rect">
            <a:avLst/>
          </a:prstGeom>
          <a:noFill/>
          <a:ln>
            <a:noFill/>
          </a:ln>
        </p:spPr>
      </p:pic>
      <p:pic>
        <p:nvPicPr>
          <p:cNvPr id="160" name="Google Shape;160;p15"/>
          <p:cNvPicPr preferRelativeResize="0"/>
          <p:nvPr/>
        </p:nvPicPr>
        <p:blipFill>
          <a:blip r:embed="rId4">
            <a:alphaModFix/>
          </a:blip>
          <a:stretch>
            <a:fillRect/>
          </a:stretch>
        </p:blipFill>
        <p:spPr>
          <a:xfrm>
            <a:off x="3779000" y="2822050"/>
            <a:ext cx="3667437" cy="19023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2">
                                  <p:stCondLst>
                                    <p:cond delay="0"/>
                                  </p:stCondLst>
                                  <p:childTnLst>
                                    <p:set>
                                      <p:cBhvr>
                                        <p:cTn dur="1" fill="hold">
                                          <p:stCondLst>
                                            <p:cond delay="0"/>
                                          </p:stCondLst>
                                        </p:cTn>
                                        <p:tgtEl>
                                          <p:spTgt spid="159"/>
                                        </p:tgtEl>
                                        <p:attrNameLst>
                                          <p:attrName>style.visibility</p:attrName>
                                        </p:attrNameLst>
                                      </p:cBhvr>
                                      <p:to>
                                        <p:strVal val="visible"/>
                                      </p:to>
                                    </p:set>
                                    <p:anim calcmode="lin" valueType="num">
                                      <p:cBhvr additive="base">
                                        <p:cTn dur="1000"/>
                                        <p:tgtEl>
                                          <p:spTgt spid="15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160"/>
                                        </p:tgtEl>
                                        <p:attrNameLst>
                                          <p:attrName>style.visibility</p:attrName>
                                        </p:attrNameLst>
                                      </p:cBhvr>
                                      <p:to>
                                        <p:strVal val="visible"/>
                                      </p:to>
                                    </p:set>
                                    <p:anim calcmode="lin" valueType="num">
                                      <p:cBhvr additive="base">
                                        <p:cTn dur="1000"/>
                                        <p:tgtEl>
                                          <p:spTgt spid="16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Benefits</a:t>
            </a:r>
            <a:endParaRPr/>
          </a:p>
        </p:txBody>
      </p:sp>
      <p:sp>
        <p:nvSpPr>
          <p:cNvPr id="166" name="Google Shape;166;p16"/>
          <p:cNvSpPr/>
          <p:nvPr/>
        </p:nvSpPr>
        <p:spPr>
          <a:xfrm>
            <a:off x="7406375" y="651025"/>
            <a:ext cx="1485900" cy="1451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Free</a:t>
            </a:r>
            <a:endParaRPr b="1">
              <a:latin typeface="Lato"/>
              <a:ea typeface="Lato"/>
              <a:cs typeface="Lato"/>
              <a:sym typeface="Lato"/>
            </a:endParaRPr>
          </a:p>
        </p:txBody>
      </p:sp>
      <p:sp>
        <p:nvSpPr>
          <p:cNvPr id="167" name="Google Shape;167;p16"/>
          <p:cNvSpPr/>
          <p:nvPr/>
        </p:nvSpPr>
        <p:spPr>
          <a:xfrm>
            <a:off x="6219575" y="2329175"/>
            <a:ext cx="2558700" cy="24471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Personalized Recommendations</a:t>
            </a:r>
            <a:endParaRPr b="1">
              <a:latin typeface="Lato"/>
              <a:ea typeface="Lato"/>
              <a:cs typeface="Lato"/>
              <a:sym typeface="Lato"/>
            </a:endParaRPr>
          </a:p>
        </p:txBody>
      </p:sp>
      <p:sp>
        <p:nvSpPr>
          <p:cNvPr id="168" name="Google Shape;168;p16"/>
          <p:cNvSpPr/>
          <p:nvPr/>
        </p:nvSpPr>
        <p:spPr>
          <a:xfrm>
            <a:off x="408500" y="1644575"/>
            <a:ext cx="2959500" cy="28689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Development</a:t>
            </a:r>
            <a:endParaRPr b="1">
              <a:latin typeface="Lato"/>
              <a:ea typeface="Lato"/>
              <a:cs typeface="Lato"/>
              <a:sym typeface="Lato"/>
            </a:endParaRPr>
          </a:p>
        </p:txBody>
      </p:sp>
      <p:sp>
        <p:nvSpPr>
          <p:cNvPr id="169" name="Google Shape;169;p16"/>
          <p:cNvSpPr/>
          <p:nvPr/>
        </p:nvSpPr>
        <p:spPr>
          <a:xfrm>
            <a:off x="3892938" y="2511775"/>
            <a:ext cx="1848000" cy="175650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Ease of Use</a:t>
            </a:r>
            <a:endParaRPr b="1">
              <a:latin typeface="Lato"/>
              <a:ea typeface="Lato"/>
              <a:cs typeface="Lato"/>
              <a:sym typeface="Lato"/>
            </a:endParaRPr>
          </a:p>
        </p:txBody>
      </p:sp>
      <p:sp>
        <p:nvSpPr>
          <p:cNvPr id="170" name="Google Shape;170;p16"/>
          <p:cNvSpPr/>
          <p:nvPr/>
        </p:nvSpPr>
        <p:spPr>
          <a:xfrm>
            <a:off x="4871450" y="336175"/>
            <a:ext cx="2166900" cy="2081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Quick Response</a:t>
            </a:r>
            <a:endParaRPr b="1">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168"/>
                                        </p:tgtEl>
                                        <p:attrNameLst>
                                          <p:attrName>style.visibility</p:attrName>
                                        </p:attrNameLst>
                                      </p:cBhvr>
                                      <p:to>
                                        <p:strVal val="visible"/>
                                      </p:to>
                                    </p:set>
                                    <p:anim calcmode="lin" valueType="num">
                                      <p:cBhvr additive="base">
                                        <p:cTn dur="1000"/>
                                        <p:tgtEl>
                                          <p:spTgt spid="16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66"/>
                                        </p:tgtEl>
                                        <p:attrNameLst>
                                          <p:attrName>style.visibility</p:attrName>
                                        </p:attrNameLst>
                                      </p:cBhvr>
                                      <p:to>
                                        <p:strVal val="visible"/>
                                      </p:to>
                                    </p:set>
                                    <p:anim calcmode="lin" valueType="num">
                                      <p:cBhvr additive="base">
                                        <p:cTn dur="1000"/>
                                        <p:tgtEl>
                                          <p:spTgt spid="166"/>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167"/>
                                        </p:tgtEl>
                                        <p:attrNameLst>
                                          <p:attrName>style.visibility</p:attrName>
                                        </p:attrNameLst>
                                      </p:cBhvr>
                                      <p:to>
                                        <p:strVal val="visible"/>
                                      </p:to>
                                    </p:set>
                                    <p:anim calcmode="lin" valueType="num">
                                      <p:cBhvr additive="base">
                                        <p:cTn dur="1000"/>
                                        <p:tgtEl>
                                          <p:spTgt spid="167"/>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170"/>
                                        </p:tgtEl>
                                        <p:attrNameLst>
                                          <p:attrName>style.visibility</p:attrName>
                                        </p:attrNameLst>
                                      </p:cBhvr>
                                      <p:to>
                                        <p:strVal val="visible"/>
                                      </p:to>
                                    </p:set>
                                    <p:anim calcmode="lin" valueType="num">
                                      <p:cBhvr additive="base">
                                        <p:cTn dur="1000"/>
                                        <p:tgtEl>
                                          <p:spTgt spid="170"/>
                                        </p:tgtEl>
                                        <p:attrNameLst>
                                          <p:attrName>ppt_w</p:attrName>
                                        </p:attrNameLst>
                                      </p:cBhvr>
                                      <p:tavLst>
                                        <p:tav fmla="" tm="0">
                                          <p:val>
                                            <p:strVal val="0"/>
                                          </p:val>
                                        </p:tav>
                                        <p:tav fmla="" tm="100000">
                                          <p:val>
                                            <p:strVal val="#ppt_w"/>
                                          </p:val>
                                        </p:tav>
                                      </p:tavLst>
                                    </p:anim>
                                    <p:anim calcmode="lin" valueType="num">
                                      <p:cBhvr additive="base">
                                        <p:cTn dur="1000"/>
                                        <p:tgtEl>
                                          <p:spTgt spid="170"/>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7"/>
          <p:cNvSpPr txBox="1"/>
          <p:nvPr>
            <p:ph type="title"/>
          </p:nvPr>
        </p:nvSpPr>
        <p:spPr>
          <a:xfrm>
            <a:off x="3354450" y="919550"/>
            <a:ext cx="24351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100"/>
              <a:t>Technical</a:t>
            </a:r>
            <a:endParaRPr b="1" sz="3100"/>
          </a:p>
        </p:txBody>
      </p:sp>
      <p:sp>
        <p:nvSpPr>
          <p:cNvPr id="176" name="Google Shape;176;p17"/>
          <p:cNvSpPr/>
          <p:nvPr/>
        </p:nvSpPr>
        <p:spPr>
          <a:xfrm>
            <a:off x="1373875" y="2759225"/>
            <a:ext cx="1485900" cy="1451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Strategy</a:t>
            </a:r>
            <a:endParaRPr b="1">
              <a:latin typeface="Lato"/>
              <a:ea typeface="Lato"/>
              <a:cs typeface="Lato"/>
              <a:sym typeface="Lato"/>
            </a:endParaRPr>
          </a:p>
        </p:txBody>
      </p:sp>
      <p:sp>
        <p:nvSpPr>
          <p:cNvPr id="177" name="Google Shape;177;p17"/>
          <p:cNvSpPr/>
          <p:nvPr/>
        </p:nvSpPr>
        <p:spPr>
          <a:xfrm>
            <a:off x="6509750" y="1311425"/>
            <a:ext cx="1848000" cy="1756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Development</a:t>
            </a:r>
            <a:endParaRPr b="1">
              <a:latin typeface="Lato"/>
              <a:ea typeface="Lato"/>
              <a:cs typeface="Lato"/>
              <a:sym typeface="Lato"/>
            </a:endParaRPr>
          </a:p>
        </p:txBody>
      </p:sp>
      <p:sp>
        <p:nvSpPr>
          <p:cNvPr id="178" name="Google Shape;178;p17"/>
          <p:cNvSpPr/>
          <p:nvPr/>
        </p:nvSpPr>
        <p:spPr>
          <a:xfrm>
            <a:off x="3730374" y="2149625"/>
            <a:ext cx="2238300" cy="21411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Implementation</a:t>
            </a:r>
            <a:endParaRPr b="1">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76"/>
                                        </p:tgtEl>
                                        <p:attrNameLst>
                                          <p:attrName>style.visibility</p:attrName>
                                        </p:attrNameLst>
                                      </p:cBhvr>
                                      <p:to>
                                        <p:strVal val="visible"/>
                                      </p:to>
                                    </p:set>
                                    <p:anim calcmode="lin" valueType="num">
                                      <p:cBhvr additive="base">
                                        <p:cTn dur="1000"/>
                                        <p:tgtEl>
                                          <p:spTgt spid="17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1000"/>
                                        <p:tgtEl>
                                          <p:spTgt spid="177"/>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8"/>
          <p:cNvSpPr/>
          <p:nvPr/>
        </p:nvSpPr>
        <p:spPr>
          <a:xfrm>
            <a:off x="6105900" y="1661925"/>
            <a:ext cx="2434500" cy="1394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4" name="Google Shape;184;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Development Strategy</a:t>
            </a:r>
            <a:endParaRPr/>
          </a:p>
        </p:txBody>
      </p:sp>
      <p:sp>
        <p:nvSpPr>
          <p:cNvPr id="185" name="Google Shape;185;p18"/>
          <p:cNvSpPr txBox="1"/>
          <p:nvPr>
            <p:ph idx="1" type="body"/>
          </p:nvPr>
        </p:nvSpPr>
        <p:spPr>
          <a:xfrm>
            <a:off x="1297500" y="1307850"/>
            <a:ext cx="4178700" cy="3171000"/>
          </a:xfrm>
          <a:prstGeom prst="rect">
            <a:avLst/>
          </a:prstGeom>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AutoNum type="arabicPeriod"/>
            </a:pPr>
            <a:r>
              <a:rPr lang="en"/>
              <a:t>Backend Development</a:t>
            </a:r>
            <a:endParaRPr/>
          </a:p>
          <a:p>
            <a:pPr indent="-298450" lvl="1" marL="914400" rtl="0" algn="l">
              <a:lnSpc>
                <a:spcPct val="115000"/>
              </a:lnSpc>
              <a:spcBef>
                <a:spcPts val="0"/>
              </a:spcBef>
              <a:spcAft>
                <a:spcPts val="0"/>
              </a:spcAft>
              <a:buSzPts val="1100"/>
              <a:buAutoNum type="alphaLcPeriod"/>
            </a:pPr>
            <a:r>
              <a:rPr lang="en"/>
              <a:t>ChatGPT API understanding/usage</a:t>
            </a:r>
            <a:endParaRPr/>
          </a:p>
          <a:p>
            <a:pPr indent="-298450" lvl="1" marL="914400" rtl="0" algn="l">
              <a:lnSpc>
                <a:spcPct val="115000"/>
              </a:lnSpc>
              <a:spcBef>
                <a:spcPts val="0"/>
              </a:spcBef>
              <a:spcAft>
                <a:spcPts val="0"/>
              </a:spcAft>
              <a:buSzPts val="1100"/>
              <a:buAutoNum type="alphaLcPeriod"/>
            </a:pPr>
            <a:r>
              <a:rPr lang="en"/>
              <a:t>Python understanding/usage</a:t>
            </a:r>
            <a:endParaRPr/>
          </a:p>
          <a:p>
            <a:pPr indent="-298450" lvl="1" marL="914400" rtl="0" algn="l">
              <a:lnSpc>
                <a:spcPct val="115000"/>
              </a:lnSpc>
              <a:spcBef>
                <a:spcPts val="0"/>
              </a:spcBef>
              <a:spcAft>
                <a:spcPts val="0"/>
              </a:spcAft>
              <a:buSzPts val="1100"/>
              <a:buAutoNum type="alphaLcPeriod"/>
            </a:pPr>
            <a:r>
              <a:rPr lang="en"/>
              <a:t>Questionnaire Feature</a:t>
            </a:r>
            <a:endParaRPr/>
          </a:p>
          <a:p>
            <a:pPr indent="-298450" lvl="1" marL="914400" rtl="0" algn="l">
              <a:lnSpc>
                <a:spcPct val="115000"/>
              </a:lnSpc>
              <a:spcBef>
                <a:spcPts val="0"/>
              </a:spcBef>
              <a:spcAft>
                <a:spcPts val="0"/>
              </a:spcAft>
              <a:buSzPts val="1100"/>
              <a:buAutoNum type="alphaLcPeriod"/>
            </a:pPr>
            <a:r>
              <a:rPr lang="en"/>
              <a:t>Packing List Feature</a:t>
            </a:r>
            <a:endParaRPr/>
          </a:p>
          <a:p>
            <a:pPr indent="-298450" lvl="1" marL="914400" rtl="0" algn="l">
              <a:lnSpc>
                <a:spcPct val="115000"/>
              </a:lnSpc>
              <a:spcBef>
                <a:spcPts val="0"/>
              </a:spcBef>
              <a:spcAft>
                <a:spcPts val="0"/>
              </a:spcAft>
              <a:buSzPts val="1100"/>
              <a:buAutoNum type="alphaLcPeriod"/>
            </a:pPr>
            <a:r>
              <a:rPr lang="en"/>
              <a:t>10 Restaurant </a:t>
            </a:r>
            <a:r>
              <a:rPr lang="en"/>
              <a:t>Recommendations</a:t>
            </a:r>
            <a:r>
              <a:rPr lang="en"/>
              <a:t> Feature</a:t>
            </a:r>
            <a:endParaRPr/>
          </a:p>
          <a:p>
            <a:pPr indent="-298450" lvl="1" marL="914400" rtl="0" algn="l">
              <a:lnSpc>
                <a:spcPct val="115000"/>
              </a:lnSpc>
              <a:spcBef>
                <a:spcPts val="0"/>
              </a:spcBef>
              <a:spcAft>
                <a:spcPts val="0"/>
              </a:spcAft>
              <a:buSzPts val="1100"/>
              <a:buAutoNum type="alphaLcPeriod"/>
            </a:pPr>
            <a:r>
              <a:rPr lang="en"/>
              <a:t>10 Hotel Recommendations Feature</a:t>
            </a:r>
            <a:endParaRPr/>
          </a:p>
          <a:p>
            <a:pPr indent="-298450" lvl="1" marL="914400" rtl="0" algn="l">
              <a:lnSpc>
                <a:spcPct val="115000"/>
              </a:lnSpc>
              <a:spcBef>
                <a:spcPts val="0"/>
              </a:spcBef>
              <a:spcAft>
                <a:spcPts val="0"/>
              </a:spcAft>
              <a:buSzPts val="1100"/>
              <a:buAutoNum type="alphaLcPeriod"/>
            </a:pPr>
            <a:r>
              <a:rPr lang="en"/>
              <a:t>Daily Planner Feature</a:t>
            </a:r>
            <a:endParaRPr/>
          </a:p>
          <a:p>
            <a:pPr indent="-298450" lvl="1" marL="914400" rtl="0" algn="l">
              <a:lnSpc>
                <a:spcPct val="115000"/>
              </a:lnSpc>
              <a:spcBef>
                <a:spcPts val="0"/>
              </a:spcBef>
              <a:spcAft>
                <a:spcPts val="0"/>
              </a:spcAft>
              <a:buSzPts val="1100"/>
              <a:buAutoNum type="alphaLcPeriod"/>
            </a:pPr>
            <a:r>
              <a:rPr lang="en"/>
              <a:t>Budget Breakdown Feature</a:t>
            </a:r>
            <a:endParaRPr/>
          </a:p>
          <a:p>
            <a:pPr indent="-311150" lvl="0" marL="457200" rtl="0" algn="l">
              <a:lnSpc>
                <a:spcPct val="115000"/>
              </a:lnSpc>
              <a:spcBef>
                <a:spcPts val="0"/>
              </a:spcBef>
              <a:spcAft>
                <a:spcPts val="0"/>
              </a:spcAft>
              <a:buSzPts val="1300"/>
              <a:buAutoNum type="arabicPeriod"/>
            </a:pPr>
            <a:r>
              <a:rPr lang="en"/>
              <a:t>Front End Development</a:t>
            </a:r>
            <a:endParaRPr/>
          </a:p>
          <a:p>
            <a:pPr indent="-298450" lvl="1" marL="914400" rtl="0" algn="l">
              <a:lnSpc>
                <a:spcPct val="115000"/>
              </a:lnSpc>
              <a:spcBef>
                <a:spcPts val="0"/>
              </a:spcBef>
              <a:spcAft>
                <a:spcPts val="0"/>
              </a:spcAft>
              <a:buSzPts val="1100"/>
              <a:buAutoNum type="alphaLcPeriod"/>
            </a:pPr>
            <a:r>
              <a:rPr lang="en"/>
              <a:t>HMTL and CSS understanding/usage</a:t>
            </a:r>
            <a:endParaRPr/>
          </a:p>
          <a:p>
            <a:pPr indent="-298450" lvl="1" marL="914400" rtl="0" algn="l">
              <a:lnSpc>
                <a:spcPct val="115000"/>
              </a:lnSpc>
              <a:spcBef>
                <a:spcPts val="0"/>
              </a:spcBef>
              <a:spcAft>
                <a:spcPts val="0"/>
              </a:spcAft>
              <a:buSzPts val="1100"/>
              <a:buAutoNum type="alphaLcPeriod"/>
            </a:pPr>
            <a:r>
              <a:rPr lang="en"/>
              <a:t>Input box</a:t>
            </a:r>
            <a:endParaRPr/>
          </a:p>
          <a:p>
            <a:pPr indent="-298450" lvl="1" marL="914400" rtl="0" algn="l">
              <a:lnSpc>
                <a:spcPct val="115000"/>
              </a:lnSpc>
              <a:spcBef>
                <a:spcPts val="0"/>
              </a:spcBef>
              <a:spcAft>
                <a:spcPts val="0"/>
              </a:spcAft>
              <a:buSzPts val="1100"/>
              <a:buAutoNum type="alphaLcPeriod"/>
            </a:pPr>
            <a:r>
              <a:rPr lang="en"/>
              <a:t>Adding our logo</a:t>
            </a:r>
            <a:endParaRPr/>
          </a:p>
          <a:p>
            <a:pPr indent="-298450" lvl="1" marL="914400" rtl="0" algn="l">
              <a:lnSpc>
                <a:spcPct val="115000"/>
              </a:lnSpc>
              <a:spcBef>
                <a:spcPts val="0"/>
              </a:spcBef>
              <a:spcAft>
                <a:spcPts val="0"/>
              </a:spcAft>
              <a:buSzPts val="1100"/>
              <a:buAutoNum type="alphaLcPeriod"/>
            </a:pPr>
            <a:r>
              <a:rPr lang="en"/>
              <a:t>“Submit” and “Clear Chat” buttons</a:t>
            </a:r>
            <a:endParaRPr/>
          </a:p>
          <a:p>
            <a:pPr indent="-298450" lvl="1" marL="914400" rtl="0" algn="l">
              <a:lnSpc>
                <a:spcPct val="115000"/>
              </a:lnSpc>
              <a:spcBef>
                <a:spcPts val="0"/>
              </a:spcBef>
              <a:spcAft>
                <a:spcPts val="0"/>
              </a:spcAft>
              <a:buSzPts val="1100"/>
              <a:buAutoNum type="alphaLcPeriod"/>
            </a:pPr>
            <a:r>
              <a:rPr lang="en"/>
              <a:t>Separating</a:t>
            </a:r>
            <a:r>
              <a:rPr lang="en"/>
              <a:t> output into 5 sections: </a:t>
            </a:r>
            <a:endParaRPr/>
          </a:p>
        </p:txBody>
      </p:sp>
      <p:pic>
        <p:nvPicPr>
          <p:cNvPr id="186" name="Google Shape;186;p18"/>
          <p:cNvPicPr preferRelativeResize="0"/>
          <p:nvPr/>
        </p:nvPicPr>
        <p:blipFill>
          <a:blip r:embed="rId3">
            <a:alphaModFix/>
          </a:blip>
          <a:stretch>
            <a:fillRect/>
          </a:stretch>
        </p:blipFill>
        <p:spPr>
          <a:xfrm>
            <a:off x="6093288" y="1678650"/>
            <a:ext cx="2459725" cy="1383601"/>
          </a:xfrm>
          <a:prstGeom prst="rect">
            <a:avLst/>
          </a:prstGeom>
          <a:noFill/>
          <a:ln>
            <a:noFill/>
          </a:ln>
        </p:spPr>
      </p:pic>
      <p:pic>
        <p:nvPicPr>
          <p:cNvPr id="187" name="Google Shape;187;p18"/>
          <p:cNvPicPr preferRelativeResize="0"/>
          <p:nvPr/>
        </p:nvPicPr>
        <p:blipFill>
          <a:blip r:embed="rId4">
            <a:alphaModFix/>
          </a:blip>
          <a:stretch>
            <a:fillRect/>
          </a:stretch>
        </p:blipFill>
        <p:spPr>
          <a:xfrm>
            <a:off x="6328925" y="247998"/>
            <a:ext cx="1988450" cy="1160300"/>
          </a:xfrm>
          <a:prstGeom prst="rect">
            <a:avLst/>
          </a:prstGeom>
          <a:noFill/>
          <a:ln>
            <a:noFill/>
          </a:ln>
        </p:spPr>
      </p:pic>
      <p:pic>
        <p:nvPicPr>
          <p:cNvPr id="188" name="Google Shape;188;p18"/>
          <p:cNvPicPr preferRelativeResize="0"/>
          <p:nvPr/>
        </p:nvPicPr>
        <p:blipFill>
          <a:blip r:embed="rId5">
            <a:alphaModFix/>
          </a:blip>
          <a:stretch>
            <a:fillRect/>
          </a:stretch>
        </p:blipFill>
        <p:spPr>
          <a:xfrm>
            <a:off x="5660713" y="3309938"/>
            <a:ext cx="2981325" cy="1533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2">
                                  <p:stCondLst>
                                    <p:cond delay="0"/>
                                  </p:stCondLst>
                                  <p:childTnLst>
                                    <p:set>
                                      <p:cBhvr>
                                        <p:cTn dur="1" fill="hold">
                                          <p:stCondLst>
                                            <p:cond delay="0"/>
                                          </p:stCondLst>
                                        </p:cTn>
                                        <p:tgtEl>
                                          <p:spTgt spid="187"/>
                                        </p:tgtEl>
                                        <p:attrNameLst>
                                          <p:attrName>style.visibility</p:attrName>
                                        </p:attrNameLst>
                                      </p:cBhvr>
                                      <p:to>
                                        <p:strVal val="visible"/>
                                      </p:to>
                                    </p:set>
                                    <p:anim calcmode="lin" valueType="num">
                                      <p:cBhvr additive="base">
                                        <p:cTn dur="1000"/>
                                        <p:tgtEl>
                                          <p:spTgt spid="18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88"/>
                                        </p:tgtEl>
                                        <p:attrNameLst>
                                          <p:attrName>style.visibility</p:attrName>
                                        </p:attrNameLst>
                                      </p:cBhvr>
                                      <p:to>
                                        <p:strVal val="visible"/>
                                      </p:to>
                                    </p:set>
                                    <p:anim calcmode="lin" valueType="num">
                                      <p:cBhvr additive="base">
                                        <p:cTn dur="1000"/>
                                        <p:tgtEl>
                                          <p:spTgt spid="18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83"/>
                                        </p:tgtEl>
                                        <p:attrNameLst>
                                          <p:attrName>style.visibility</p:attrName>
                                        </p:attrNameLst>
                                      </p:cBhvr>
                                      <p:to>
                                        <p:strVal val="visible"/>
                                      </p:to>
                                    </p:set>
                                    <p:anim calcmode="lin" valueType="num">
                                      <p:cBhvr additive="base">
                                        <p:cTn dur="1000"/>
                                        <p:tgtEl>
                                          <p:spTgt spid="18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86"/>
                                        </p:tgtEl>
                                        <p:attrNameLst>
                                          <p:attrName>style.visibility</p:attrName>
                                        </p:attrNameLst>
                                      </p:cBhvr>
                                      <p:to>
                                        <p:strVal val="visible"/>
                                      </p:to>
                                    </p:set>
                                    <p:anim calcmode="lin" valueType="num">
                                      <p:cBhvr additive="base">
                                        <p:cTn dur="1000"/>
                                        <p:tgtEl>
                                          <p:spTgt spid="18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Application Back End</a:t>
            </a:r>
            <a:endParaRPr/>
          </a:p>
        </p:txBody>
      </p:sp>
      <p:sp>
        <p:nvSpPr>
          <p:cNvPr id="194" name="Google Shape;194;p19"/>
          <p:cNvSpPr/>
          <p:nvPr/>
        </p:nvSpPr>
        <p:spPr>
          <a:xfrm>
            <a:off x="3857716" y="1100200"/>
            <a:ext cx="1524000" cy="1497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Chatbot</a:t>
            </a:r>
            <a:endParaRPr>
              <a:latin typeface="Lato"/>
              <a:ea typeface="Lato"/>
              <a:cs typeface="Lato"/>
              <a:sym typeface="Lato"/>
            </a:endParaRPr>
          </a:p>
        </p:txBody>
      </p:sp>
      <p:sp>
        <p:nvSpPr>
          <p:cNvPr id="195" name="Google Shape;195;p19"/>
          <p:cNvSpPr/>
          <p:nvPr/>
        </p:nvSpPr>
        <p:spPr>
          <a:xfrm>
            <a:off x="3598438" y="3364025"/>
            <a:ext cx="1742700" cy="1656000"/>
          </a:xfrm>
          <a:prstGeom prst="ellipse">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DailyPlanner</a:t>
            </a:r>
            <a:endParaRPr>
              <a:latin typeface="Lato"/>
              <a:ea typeface="Lato"/>
              <a:cs typeface="Lato"/>
              <a:sym typeface="Lato"/>
            </a:endParaRPr>
          </a:p>
        </p:txBody>
      </p:sp>
      <p:sp>
        <p:nvSpPr>
          <p:cNvPr id="196" name="Google Shape;196;p19"/>
          <p:cNvSpPr/>
          <p:nvPr/>
        </p:nvSpPr>
        <p:spPr>
          <a:xfrm>
            <a:off x="5521538" y="3269275"/>
            <a:ext cx="1615500" cy="14973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PackingList</a:t>
            </a:r>
            <a:endParaRPr>
              <a:latin typeface="Lato"/>
              <a:ea typeface="Lato"/>
              <a:cs typeface="Lato"/>
              <a:sym typeface="Lato"/>
            </a:endParaRPr>
          </a:p>
        </p:txBody>
      </p:sp>
      <p:sp>
        <p:nvSpPr>
          <p:cNvPr id="197" name="Google Shape;197;p19"/>
          <p:cNvSpPr/>
          <p:nvPr/>
        </p:nvSpPr>
        <p:spPr>
          <a:xfrm>
            <a:off x="6048438" y="2060375"/>
            <a:ext cx="1188600" cy="1154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Budget</a:t>
            </a:r>
            <a:endParaRPr>
              <a:latin typeface="Lato"/>
              <a:ea typeface="Lato"/>
              <a:cs typeface="Lato"/>
              <a:sym typeface="Lato"/>
            </a:endParaRPr>
          </a:p>
        </p:txBody>
      </p:sp>
      <p:sp>
        <p:nvSpPr>
          <p:cNvPr id="198" name="Google Shape;198;p19"/>
          <p:cNvSpPr/>
          <p:nvPr/>
        </p:nvSpPr>
        <p:spPr>
          <a:xfrm>
            <a:off x="1906963" y="1824725"/>
            <a:ext cx="1188600" cy="11544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Hotel</a:t>
            </a:r>
            <a:endParaRPr>
              <a:latin typeface="Lato"/>
              <a:ea typeface="Lato"/>
              <a:cs typeface="Lato"/>
              <a:sym typeface="Lato"/>
            </a:endParaRPr>
          </a:p>
        </p:txBody>
      </p:sp>
      <p:sp>
        <p:nvSpPr>
          <p:cNvPr id="199" name="Google Shape;199;p19"/>
          <p:cNvSpPr/>
          <p:nvPr/>
        </p:nvSpPr>
        <p:spPr>
          <a:xfrm>
            <a:off x="1906963" y="3157525"/>
            <a:ext cx="1524000" cy="149730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Restaurant</a:t>
            </a:r>
            <a:endParaRPr>
              <a:latin typeface="Lato"/>
              <a:ea typeface="Lato"/>
              <a:cs typeface="Lato"/>
              <a:sym typeface="Lato"/>
            </a:endParaRPr>
          </a:p>
        </p:txBody>
      </p:sp>
      <p:sp>
        <p:nvSpPr>
          <p:cNvPr id="200" name="Google Shape;200;p19"/>
          <p:cNvSpPr/>
          <p:nvPr/>
        </p:nvSpPr>
        <p:spPr>
          <a:xfrm rot="8300889">
            <a:off x="3350484" y="2697075"/>
            <a:ext cx="857204" cy="404797"/>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1" name="Google Shape;201;p19"/>
          <p:cNvSpPr/>
          <p:nvPr/>
        </p:nvSpPr>
        <p:spPr>
          <a:xfrm rot="5400000">
            <a:off x="4280701" y="2845761"/>
            <a:ext cx="626700" cy="2700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2" name="Google Shape;202;p19"/>
          <p:cNvSpPr/>
          <p:nvPr/>
        </p:nvSpPr>
        <p:spPr>
          <a:xfrm rot="3194303">
            <a:off x="5024309" y="2778304"/>
            <a:ext cx="857162" cy="404881"/>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3" name="Google Shape;203;p19"/>
          <p:cNvSpPr/>
          <p:nvPr/>
        </p:nvSpPr>
        <p:spPr>
          <a:xfrm rot="9180218">
            <a:off x="3240238" y="1936569"/>
            <a:ext cx="552503" cy="248212"/>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4" name="Google Shape;204;p19"/>
          <p:cNvSpPr/>
          <p:nvPr/>
        </p:nvSpPr>
        <p:spPr>
          <a:xfrm rot="2244527">
            <a:off x="5422323" y="2012821"/>
            <a:ext cx="701731" cy="244209"/>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5" name="Google Shape;205;p19"/>
          <p:cNvSpPr/>
          <p:nvPr/>
        </p:nvSpPr>
        <p:spPr>
          <a:xfrm rot="8969448">
            <a:off x="5291762" y="1194607"/>
            <a:ext cx="758751" cy="282415"/>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6" name="Google Shape;206;p19"/>
          <p:cNvSpPr/>
          <p:nvPr/>
        </p:nvSpPr>
        <p:spPr>
          <a:xfrm>
            <a:off x="6126000" y="393750"/>
            <a:ext cx="1188600" cy="11544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User Input</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1000"/>
                                        <p:tgtEl>
                                          <p:spTgt spid="206"/>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par>
                                <p:cTn fill="hold" nodeType="with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par>
                                <p:cTn fill="hold" nodeType="with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1000"/>
                                        <p:tgtEl>
                                          <p:spTgt spid="199"/>
                                        </p:tgtEl>
                                      </p:cBhvr>
                                    </p:animEffect>
                                  </p:childTnLst>
                                </p:cTn>
                              </p:par>
                              <p:par>
                                <p:cTn fill="hold" nodeType="with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1000"/>
                                        <p:tgtEl>
                                          <p:spTgt spid="195"/>
                                        </p:tgtEl>
                                      </p:cBhvr>
                                    </p:animEffect>
                                  </p:childTnLst>
                                </p:cTn>
                              </p:par>
                              <p:par>
                                <p:cTn fill="hold" nodeType="with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1000"/>
                                        <p:tgtEl>
                                          <p:spTgt spid="196"/>
                                        </p:tgtEl>
                                      </p:cBhvr>
                                    </p:animEffect>
                                  </p:childTnLst>
                                </p:cTn>
                              </p:par>
                              <p:par>
                                <p:cTn fill="hold" nodeType="with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1000"/>
                                        <p:tgtEl>
                                          <p:spTgt spid="19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1000"/>
                                        <p:tgtEl>
                                          <p:spTgt spid="20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1000"/>
                                        <p:tgtEl>
                                          <p:spTgt spid="204"/>
                                        </p:tgtEl>
                                      </p:cBhvr>
                                    </p:animEffect>
                                  </p:childTnLst>
                                </p:cTn>
                              </p:par>
                              <p:par>
                                <p:cTn fill="hold" nodeType="with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par>
                                <p:cTn fill="hold" nodeType="with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000"/>
                                        <p:tgtEl>
                                          <p:spTgt spid="201"/>
                                        </p:tgtEl>
                                      </p:cBhvr>
                                    </p:animEffect>
                                  </p:childTnLst>
                                </p:cTn>
                              </p:par>
                              <p:par>
                                <p:cTn fill="hold" nodeType="with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1000"/>
                                        <p:tgtEl>
                                          <p:spTgt spid="200"/>
                                        </p:tgtEl>
                                      </p:cBhvr>
                                    </p:animEffect>
                                  </p:childTnLst>
                                </p:cTn>
                              </p:par>
                              <p:par>
                                <p:cTn fill="hold" nodeType="with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0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Application Front End</a:t>
            </a:r>
            <a:endParaRPr/>
          </a:p>
        </p:txBody>
      </p:sp>
      <p:sp>
        <p:nvSpPr>
          <p:cNvPr id="212" name="Google Shape;212;p20"/>
          <p:cNvSpPr/>
          <p:nvPr/>
        </p:nvSpPr>
        <p:spPr>
          <a:xfrm>
            <a:off x="6812391" y="1493775"/>
            <a:ext cx="1524000" cy="149730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Buttons</a:t>
            </a:r>
            <a:endParaRPr>
              <a:latin typeface="Lato"/>
              <a:ea typeface="Lato"/>
              <a:cs typeface="Lato"/>
              <a:sym typeface="Lato"/>
            </a:endParaRPr>
          </a:p>
        </p:txBody>
      </p:sp>
      <p:sp>
        <p:nvSpPr>
          <p:cNvPr id="213" name="Google Shape;213;p20"/>
          <p:cNvSpPr/>
          <p:nvPr/>
        </p:nvSpPr>
        <p:spPr>
          <a:xfrm>
            <a:off x="4816177" y="2640525"/>
            <a:ext cx="1924800" cy="1896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Input Text Box</a:t>
            </a:r>
            <a:endParaRPr>
              <a:latin typeface="Lato"/>
              <a:ea typeface="Lato"/>
              <a:cs typeface="Lato"/>
              <a:sym typeface="Lato"/>
            </a:endParaRPr>
          </a:p>
        </p:txBody>
      </p:sp>
      <p:sp>
        <p:nvSpPr>
          <p:cNvPr id="214" name="Google Shape;214;p20"/>
          <p:cNvSpPr/>
          <p:nvPr/>
        </p:nvSpPr>
        <p:spPr>
          <a:xfrm>
            <a:off x="605556" y="2281325"/>
            <a:ext cx="2590800" cy="24513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Output </a:t>
            </a:r>
            <a:r>
              <a:rPr lang="en">
                <a:latin typeface="Lato"/>
                <a:ea typeface="Lato"/>
                <a:cs typeface="Lato"/>
                <a:sym typeface="Lato"/>
              </a:rPr>
              <a:t>Text Boxes</a:t>
            </a:r>
            <a:endParaRPr>
              <a:latin typeface="Lato"/>
              <a:ea typeface="Lato"/>
              <a:cs typeface="Lato"/>
              <a:sym typeface="Lato"/>
            </a:endParaRPr>
          </a:p>
        </p:txBody>
      </p:sp>
      <p:sp>
        <p:nvSpPr>
          <p:cNvPr id="215" name="Google Shape;215;p20"/>
          <p:cNvSpPr/>
          <p:nvPr/>
        </p:nvSpPr>
        <p:spPr>
          <a:xfrm>
            <a:off x="3429750" y="1493775"/>
            <a:ext cx="908400" cy="9141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Logo</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1000"/>
                                        <p:tgtEl>
                                          <p:spTgt spid="21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213"/>
                                        </p:tgtEl>
                                        <p:attrNameLst>
                                          <p:attrName>style.visibility</p:attrName>
                                        </p:attrNameLst>
                                      </p:cBhvr>
                                      <p:to>
                                        <p:strVal val="visible"/>
                                      </p:to>
                                    </p:set>
                                    <p:anim calcmode="lin" valueType="num">
                                      <p:cBhvr additive="base">
                                        <p:cTn dur="1000"/>
                                        <p:tgtEl>
                                          <p:spTgt spid="21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0"/>
                                  </p:stCondLst>
                                  <p:childTnLst>
                                    <p:set>
                                      <p:cBhvr>
                                        <p:cTn dur="1" fill="hold">
                                          <p:stCondLst>
                                            <p:cond delay="0"/>
                                          </p:stCondLst>
                                        </p:cTn>
                                        <p:tgtEl>
                                          <p:spTgt spid="212"/>
                                        </p:tgtEl>
                                        <p:attrNameLst>
                                          <p:attrName>style.visibility</p:attrName>
                                        </p:attrNameLst>
                                      </p:cBhvr>
                                      <p:to>
                                        <p:strVal val="visible"/>
                                      </p:to>
                                    </p:set>
                                    <p:anim calcmode="lin" valueType="num">
                                      <p:cBhvr additive="base">
                                        <p:cTn dur="1000"/>
                                        <p:tgtEl>
                                          <p:spTgt spid="212"/>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215"/>
                                        </p:tgtEl>
                                        <p:attrNameLst>
                                          <p:attrName>style.visibility</p:attrName>
                                        </p:attrNameLst>
                                      </p:cBhvr>
                                      <p:to>
                                        <p:strVal val="visible"/>
                                      </p:to>
                                    </p:set>
                                    <p:anim calcmode="lin" valueType="num">
                                      <p:cBhvr additive="base">
                                        <p:cTn dur="1000"/>
                                        <p:tgtEl>
                                          <p:spTgt spid="215"/>
                                        </p:tgtEl>
                                        <p:attrNameLst>
                                          <p:attrName>ppt_w</p:attrName>
                                        </p:attrNameLst>
                                      </p:cBhvr>
                                      <p:tavLst>
                                        <p:tav fmla="" tm="0">
                                          <p:val>
                                            <p:strVal val="0"/>
                                          </p:val>
                                        </p:tav>
                                        <p:tav fmla="" tm="100000">
                                          <p:val>
                                            <p:strVal val="#ppt_w"/>
                                          </p:val>
                                        </p:tav>
                                      </p:tavLst>
                                    </p:anim>
                                    <p:anim calcmode="lin" valueType="num">
                                      <p:cBhvr additive="base">
                                        <p:cTn dur="1000"/>
                                        <p:tgtEl>
                                          <p:spTgt spid="21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21"/>
          <p:cNvPicPr preferRelativeResize="0"/>
          <p:nvPr/>
        </p:nvPicPr>
        <p:blipFill>
          <a:blip r:embed="rId3">
            <a:alphaModFix/>
          </a:blip>
          <a:stretch>
            <a:fillRect/>
          </a:stretch>
        </p:blipFill>
        <p:spPr>
          <a:xfrm>
            <a:off x="1127452" y="584200"/>
            <a:ext cx="2572525" cy="3535674"/>
          </a:xfrm>
          <a:prstGeom prst="rect">
            <a:avLst/>
          </a:prstGeom>
          <a:noFill/>
          <a:ln>
            <a:noFill/>
          </a:ln>
        </p:spPr>
      </p:pic>
      <p:pic>
        <p:nvPicPr>
          <p:cNvPr id="221" name="Google Shape;221;p21"/>
          <p:cNvPicPr preferRelativeResize="0"/>
          <p:nvPr/>
        </p:nvPicPr>
        <p:blipFill>
          <a:blip r:embed="rId4">
            <a:alphaModFix/>
          </a:blip>
          <a:stretch>
            <a:fillRect/>
          </a:stretch>
        </p:blipFill>
        <p:spPr>
          <a:xfrm>
            <a:off x="4144475" y="1345658"/>
            <a:ext cx="4516925" cy="234241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par>
                                <p:cTn fill="hold" nodeType="with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2"/>
          <p:cNvSpPr txBox="1"/>
          <p:nvPr>
            <p:ph type="title"/>
          </p:nvPr>
        </p:nvSpPr>
        <p:spPr>
          <a:xfrm>
            <a:off x="2072700" y="919550"/>
            <a:ext cx="49986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100"/>
              <a:t>Future of the Application</a:t>
            </a:r>
            <a:endParaRPr b="1" sz="3100"/>
          </a:p>
        </p:txBody>
      </p:sp>
      <p:sp>
        <p:nvSpPr>
          <p:cNvPr id="227" name="Google Shape;227;p22"/>
          <p:cNvSpPr/>
          <p:nvPr/>
        </p:nvSpPr>
        <p:spPr>
          <a:xfrm>
            <a:off x="6037350" y="2571750"/>
            <a:ext cx="1485900" cy="1451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Version 2.0</a:t>
            </a:r>
            <a:endParaRPr b="1">
              <a:latin typeface="Lato"/>
              <a:ea typeface="Lato"/>
              <a:cs typeface="Lato"/>
              <a:sym typeface="Lato"/>
            </a:endParaRPr>
          </a:p>
        </p:txBody>
      </p:sp>
      <p:sp>
        <p:nvSpPr>
          <p:cNvPr id="228" name="Google Shape;228;p22"/>
          <p:cNvSpPr/>
          <p:nvPr/>
        </p:nvSpPr>
        <p:spPr>
          <a:xfrm>
            <a:off x="6304000" y="498350"/>
            <a:ext cx="1848000" cy="17565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Development</a:t>
            </a:r>
            <a:endParaRPr b="1">
              <a:latin typeface="Lato"/>
              <a:ea typeface="Lato"/>
              <a:cs typeface="Lato"/>
              <a:sym typeface="Lato"/>
            </a:endParaRPr>
          </a:p>
        </p:txBody>
      </p:sp>
      <p:sp>
        <p:nvSpPr>
          <p:cNvPr id="229" name="Google Shape;229;p22"/>
          <p:cNvSpPr/>
          <p:nvPr/>
        </p:nvSpPr>
        <p:spPr>
          <a:xfrm>
            <a:off x="232799" y="1501200"/>
            <a:ext cx="2238300" cy="214110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Enhancement</a:t>
            </a:r>
            <a:endParaRPr b="1">
              <a:latin typeface="Lato"/>
              <a:ea typeface="Lato"/>
              <a:cs typeface="Lato"/>
              <a:sym typeface="Lato"/>
            </a:endParaRPr>
          </a:p>
        </p:txBody>
      </p:sp>
      <p:sp>
        <p:nvSpPr>
          <p:cNvPr id="230" name="Google Shape;230;p22"/>
          <p:cNvSpPr/>
          <p:nvPr/>
        </p:nvSpPr>
        <p:spPr>
          <a:xfrm>
            <a:off x="2730225" y="2971025"/>
            <a:ext cx="1969800" cy="18114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New Feature</a:t>
            </a:r>
            <a:endParaRPr b="1">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229"/>
                                        </p:tgtEl>
                                        <p:attrNameLst>
                                          <p:attrName>style.visibility</p:attrName>
                                        </p:attrNameLst>
                                      </p:cBhvr>
                                      <p:to>
                                        <p:strVal val="visible"/>
                                      </p:to>
                                    </p:set>
                                    <p:anim calcmode="lin" valueType="num">
                                      <p:cBhvr additive="base">
                                        <p:cTn dur="1000"/>
                                        <p:tgtEl>
                                          <p:spTgt spid="22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230"/>
                                        </p:tgtEl>
                                        <p:attrNameLst>
                                          <p:attrName>style.visibility</p:attrName>
                                        </p:attrNameLst>
                                      </p:cBhvr>
                                      <p:to>
                                        <p:strVal val="visible"/>
                                      </p:to>
                                    </p:set>
                                    <p:anim calcmode="lin" valueType="num">
                                      <p:cBhvr additive="base">
                                        <p:cTn dur="1000"/>
                                        <p:tgtEl>
                                          <p:spTgt spid="23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0"/>
                                  </p:stCondLst>
                                  <p:childTnLst>
                                    <p:set>
                                      <p:cBhvr>
                                        <p:cTn dur="1" fill="hold">
                                          <p:stCondLst>
                                            <p:cond delay="0"/>
                                          </p:stCondLst>
                                        </p:cTn>
                                        <p:tgtEl>
                                          <p:spTgt spid="227"/>
                                        </p:tgtEl>
                                        <p:attrNameLst>
                                          <p:attrName>style.visibility</p:attrName>
                                        </p:attrNameLst>
                                      </p:cBhvr>
                                      <p:to>
                                        <p:strVal val="visible"/>
                                      </p:to>
                                    </p:set>
                                    <p:anim calcmode="lin" valueType="num">
                                      <p:cBhvr additive="base">
                                        <p:cTn dur="1000"/>
                                        <p:tgtEl>
                                          <p:spTgt spid="22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1">
                                  <p:stCondLst>
                                    <p:cond delay="0"/>
                                  </p:stCondLst>
                                  <p:childTnLst>
                                    <p:set>
                                      <p:cBhvr>
                                        <p:cTn dur="1" fill="hold">
                                          <p:stCondLst>
                                            <p:cond delay="0"/>
                                          </p:stCondLst>
                                        </p:cTn>
                                        <p:tgtEl>
                                          <p:spTgt spid="228"/>
                                        </p:tgtEl>
                                        <p:attrNameLst>
                                          <p:attrName>style.visibility</p:attrName>
                                        </p:attrNameLst>
                                      </p:cBhvr>
                                      <p:to>
                                        <p:strVal val="visible"/>
                                      </p:to>
                                    </p:set>
                                    <p:anim calcmode="lin" valueType="num">
                                      <p:cBhvr additive="base">
                                        <p:cTn dur="1000"/>
                                        <p:tgtEl>
                                          <p:spTgt spid="22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Future of Application</a:t>
            </a:r>
            <a:endParaRPr/>
          </a:p>
        </p:txBody>
      </p:sp>
      <p:sp>
        <p:nvSpPr>
          <p:cNvPr id="236" name="Google Shape;236;p23"/>
          <p:cNvSpPr txBox="1"/>
          <p:nvPr>
            <p:ph idx="1" type="body"/>
          </p:nvPr>
        </p:nvSpPr>
        <p:spPr>
          <a:xfrm>
            <a:off x="775950" y="1307850"/>
            <a:ext cx="4795500" cy="339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our next version, we are considering adding  the new feature and enhancement.</a:t>
            </a:r>
            <a:endParaRPr/>
          </a:p>
          <a:p>
            <a:pPr indent="0" lvl="0" marL="0" rtl="0" algn="l">
              <a:spcBef>
                <a:spcPts val="1200"/>
              </a:spcBef>
              <a:spcAft>
                <a:spcPts val="0"/>
              </a:spcAft>
              <a:buNone/>
            </a:pPr>
            <a:r>
              <a:rPr lang="en"/>
              <a:t>New Feature: Flight Recommendation</a:t>
            </a:r>
            <a:endParaRPr/>
          </a:p>
          <a:p>
            <a:pPr indent="0" lvl="0" marL="0" rtl="0" algn="l">
              <a:spcBef>
                <a:spcPts val="1200"/>
              </a:spcBef>
              <a:spcAft>
                <a:spcPts val="0"/>
              </a:spcAft>
              <a:buNone/>
            </a:pPr>
            <a:r>
              <a:rPr lang="en"/>
              <a:t>Enhancement: </a:t>
            </a:r>
            <a:r>
              <a:rPr lang="en"/>
              <a:t>UI Improvement</a:t>
            </a:r>
            <a:endParaRPr/>
          </a:p>
          <a:p>
            <a:pPr indent="0" lvl="0" marL="0" rtl="0" algn="l">
              <a:spcBef>
                <a:spcPts val="1200"/>
              </a:spcBef>
              <a:spcAft>
                <a:spcPts val="0"/>
              </a:spcAft>
              <a:buNone/>
            </a:pPr>
            <a:r>
              <a:rPr lang="en"/>
              <a:t>Overall, by combining the powerful Flight Recommendation feature with an user-centric UI, Plotka aims to provide a better travel planning solution.</a:t>
            </a:r>
            <a:endParaRPr/>
          </a:p>
          <a:p>
            <a:pPr indent="0" lvl="0" marL="0" rtl="0" algn="l">
              <a:spcBef>
                <a:spcPts val="1200"/>
              </a:spcBef>
              <a:spcAft>
                <a:spcPts val="1200"/>
              </a:spcAft>
              <a:buNone/>
            </a:pPr>
            <a:r>
              <a:t/>
            </a:r>
            <a:endParaRPr/>
          </a:p>
        </p:txBody>
      </p:sp>
      <p:pic>
        <p:nvPicPr>
          <p:cNvPr id="237" name="Google Shape;237;p23"/>
          <p:cNvPicPr preferRelativeResize="0"/>
          <p:nvPr/>
        </p:nvPicPr>
        <p:blipFill>
          <a:blip r:embed="rId3">
            <a:alphaModFix/>
          </a:blip>
          <a:stretch>
            <a:fillRect/>
          </a:stretch>
        </p:blipFill>
        <p:spPr>
          <a:xfrm>
            <a:off x="5861525" y="2226150"/>
            <a:ext cx="2924175" cy="1562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2">
                                  <p:stCondLst>
                                    <p:cond delay="0"/>
                                  </p:stCondLst>
                                  <p:childTnLst>
                                    <p:set>
                                      <p:cBhvr>
                                        <p:cTn dur="1" fill="hold">
                                          <p:stCondLst>
                                            <p:cond delay="0"/>
                                          </p:stCondLst>
                                        </p:cTn>
                                        <p:tgtEl>
                                          <p:spTgt spid="237"/>
                                        </p:tgtEl>
                                        <p:attrNameLst>
                                          <p:attrName>style.visibility</p:attrName>
                                        </p:attrNameLst>
                                      </p:cBhvr>
                                      <p:to>
                                        <p:strVal val="visible"/>
                                      </p:to>
                                    </p:set>
                                    <p:anim calcmode="lin" valueType="num">
                                      <p:cBhvr additive="base">
                                        <p:cTn dur="2400"/>
                                        <p:tgtEl>
                                          <p:spTgt spid="23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4"/>
          <p:cNvSpPr txBox="1"/>
          <p:nvPr>
            <p:ph type="title"/>
          </p:nvPr>
        </p:nvSpPr>
        <p:spPr>
          <a:xfrm>
            <a:off x="2072700" y="919550"/>
            <a:ext cx="49986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100"/>
              <a:t>Group Dynamics</a:t>
            </a:r>
            <a:endParaRPr b="1" sz="3100"/>
          </a:p>
        </p:txBody>
      </p:sp>
      <p:sp>
        <p:nvSpPr>
          <p:cNvPr id="243" name="Google Shape;243;p24"/>
          <p:cNvSpPr/>
          <p:nvPr/>
        </p:nvSpPr>
        <p:spPr>
          <a:xfrm>
            <a:off x="7071300" y="919550"/>
            <a:ext cx="1828800" cy="1787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Organization</a:t>
            </a:r>
            <a:endParaRPr b="1">
              <a:latin typeface="Lato"/>
              <a:ea typeface="Lato"/>
              <a:cs typeface="Lato"/>
              <a:sym typeface="Lato"/>
            </a:endParaRPr>
          </a:p>
        </p:txBody>
      </p:sp>
      <p:sp>
        <p:nvSpPr>
          <p:cNvPr id="244" name="Google Shape;244;p24"/>
          <p:cNvSpPr/>
          <p:nvPr/>
        </p:nvSpPr>
        <p:spPr>
          <a:xfrm>
            <a:off x="600500" y="1833650"/>
            <a:ext cx="1828800" cy="17877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Flexibility</a:t>
            </a:r>
            <a:endParaRPr b="1">
              <a:latin typeface="Lato"/>
              <a:ea typeface="Lato"/>
              <a:cs typeface="Lato"/>
              <a:sym typeface="Lato"/>
            </a:endParaRPr>
          </a:p>
        </p:txBody>
      </p:sp>
      <p:sp>
        <p:nvSpPr>
          <p:cNvPr id="245" name="Google Shape;245;p24"/>
          <p:cNvSpPr/>
          <p:nvPr/>
        </p:nvSpPr>
        <p:spPr>
          <a:xfrm>
            <a:off x="3577575" y="2334425"/>
            <a:ext cx="1828800" cy="1787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Roles</a:t>
            </a:r>
            <a:endParaRPr b="1">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244"/>
                                        </p:tgtEl>
                                        <p:attrNameLst>
                                          <p:attrName>style.visibility</p:attrName>
                                        </p:attrNameLst>
                                      </p:cBhvr>
                                      <p:to>
                                        <p:strVal val="visible"/>
                                      </p:to>
                                    </p:set>
                                    <p:anim calcmode="lin" valueType="num">
                                      <p:cBhvr additive="base">
                                        <p:cTn dur="1000"/>
                                        <p:tgtEl>
                                          <p:spTgt spid="24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1000"/>
                                        <p:tgtEl>
                                          <p:spTgt spid="24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0"/>
                                  </p:stCondLst>
                                  <p:childTnLst>
                                    <p:set>
                                      <p:cBhvr>
                                        <p:cTn dur="1" fill="hold">
                                          <p:stCondLst>
                                            <p:cond delay="0"/>
                                          </p:stCondLst>
                                        </p:cTn>
                                        <p:tgtEl>
                                          <p:spTgt spid="243"/>
                                        </p:tgtEl>
                                        <p:attrNameLst>
                                          <p:attrName>style.visibility</p:attrName>
                                        </p:attrNameLst>
                                      </p:cBhvr>
                                      <p:to>
                                        <p:strVal val="visible"/>
                                      </p:to>
                                    </p:set>
                                    <p:anim calcmode="lin" valueType="num">
                                      <p:cBhvr additive="base">
                                        <p:cTn dur="1000"/>
                                        <p:tgtEl>
                                          <p:spTgt spid="24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Group Dynamics</a:t>
            </a:r>
            <a:endParaRPr/>
          </a:p>
        </p:txBody>
      </p:sp>
      <p:sp>
        <p:nvSpPr>
          <p:cNvPr id="251" name="Google Shape;251;p25"/>
          <p:cNvSpPr txBox="1"/>
          <p:nvPr>
            <p:ph idx="1" type="body"/>
          </p:nvPr>
        </p:nvSpPr>
        <p:spPr>
          <a:xfrm>
            <a:off x="1297500" y="1567550"/>
            <a:ext cx="4891800" cy="29112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lang="en" sz="1200"/>
              <a:t>We develop and test the FrontEnd and BackEnd separately</a:t>
            </a:r>
            <a:endParaRPr sz="1200"/>
          </a:p>
          <a:p>
            <a:pPr indent="0" lvl="0" marL="0" rtl="0" algn="l">
              <a:lnSpc>
                <a:spcPct val="100000"/>
              </a:lnSpc>
              <a:spcBef>
                <a:spcPts val="1200"/>
              </a:spcBef>
              <a:spcAft>
                <a:spcPts val="0"/>
              </a:spcAft>
              <a:buNone/>
            </a:pPr>
            <a:r>
              <a:rPr lang="en" sz="1200"/>
              <a:t>When both parts are done, they are combined for a complete application</a:t>
            </a:r>
            <a:endParaRPr sz="1200"/>
          </a:p>
          <a:p>
            <a:pPr indent="-304800" lvl="0" marL="457200" rtl="0" algn="l">
              <a:lnSpc>
                <a:spcPct val="100000"/>
              </a:lnSpc>
              <a:spcBef>
                <a:spcPts val="1200"/>
              </a:spcBef>
              <a:spcAft>
                <a:spcPts val="0"/>
              </a:spcAft>
              <a:buSzPts val="1200"/>
              <a:buChar char="●"/>
            </a:pPr>
            <a:r>
              <a:rPr lang="en" sz="1200"/>
              <a:t>Front End :  Yihan Shao, Arnav Pawar</a:t>
            </a:r>
            <a:endParaRPr sz="1200"/>
          </a:p>
          <a:p>
            <a:pPr indent="-304800" lvl="0" marL="457200" rtl="0" algn="l">
              <a:lnSpc>
                <a:spcPct val="100000"/>
              </a:lnSpc>
              <a:spcBef>
                <a:spcPts val="0"/>
              </a:spcBef>
              <a:spcAft>
                <a:spcPts val="0"/>
              </a:spcAft>
              <a:buSzPts val="1200"/>
              <a:buChar char="●"/>
            </a:pPr>
            <a:r>
              <a:rPr lang="en" sz="1200"/>
              <a:t>Back   End :  Ziqun Wang, Yuecheng Liu</a:t>
            </a:r>
            <a:endParaRPr sz="1200"/>
          </a:p>
          <a:p>
            <a:pPr indent="-304800" lvl="0" marL="457200" rtl="0" algn="l">
              <a:lnSpc>
                <a:spcPct val="100000"/>
              </a:lnSpc>
              <a:spcBef>
                <a:spcPts val="0"/>
              </a:spcBef>
              <a:spcAft>
                <a:spcPts val="0"/>
              </a:spcAft>
              <a:buSzPts val="1200"/>
              <a:buChar char="●"/>
            </a:pPr>
            <a:r>
              <a:rPr lang="en" sz="1200"/>
              <a:t>Testing  :   Anson Decker, Alex Litchfield</a:t>
            </a:r>
            <a:endParaRPr sz="1200"/>
          </a:p>
          <a:p>
            <a:pPr indent="0" lvl="0" marL="0" rtl="0" algn="l">
              <a:lnSpc>
                <a:spcPct val="115000"/>
              </a:lnSpc>
              <a:spcBef>
                <a:spcPts val="1200"/>
              </a:spcBef>
              <a:spcAft>
                <a:spcPts val="0"/>
              </a:spcAft>
              <a:buNone/>
            </a:pPr>
            <a:r>
              <a:rPr lang="en" sz="1200"/>
              <a:t>Github is used to manage our project with each of us having  a branch. We work on different tasks over the course of the week and merge  our branches</a:t>
            </a:r>
            <a:endParaRPr sz="1200"/>
          </a:p>
          <a:p>
            <a:pPr indent="0" lvl="0" marL="0" rtl="0" algn="l">
              <a:lnSpc>
                <a:spcPct val="115000"/>
              </a:lnSpc>
              <a:spcBef>
                <a:spcPts val="1200"/>
              </a:spcBef>
              <a:spcAft>
                <a:spcPts val="1200"/>
              </a:spcAft>
              <a:buNone/>
            </a:pPr>
            <a:r>
              <a:rPr lang="en" sz="1200"/>
              <a:t>New tasks are assigned weekly to make sure all team members know clearly what  to do the next week</a:t>
            </a:r>
            <a:endParaRPr/>
          </a:p>
        </p:txBody>
      </p:sp>
      <p:pic>
        <p:nvPicPr>
          <p:cNvPr id="252" name="Google Shape;252;p25"/>
          <p:cNvPicPr preferRelativeResize="0"/>
          <p:nvPr/>
        </p:nvPicPr>
        <p:blipFill>
          <a:blip r:embed="rId3">
            <a:alphaModFix/>
          </a:blip>
          <a:stretch>
            <a:fillRect/>
          </a:stretch>
        </p:blipFill>
        <p:spPr>
          <a:xfrm>
            <a:off x="6189325" y="1118950"/>
            <a:ext cx="2790949" cy="170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000"/>
                                        <p:tgtEl>
                                          <p:spTgt spid="2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GitHub &amp; GitHub Issues</a:t>
            </a:r>
            <a:endParaRPr/>
          </a:p>
        </p:txBody>
      </p:sp>
      <p:sp>
        <p:nvSpPr>
          <p:cNvPr id="258" name="Google Shape;258;p26"/>
          <p:cNvSpPr txBox="1"/>
          <p:nvPr>
            <p:ph idx="1" type="body"/>
          </p:nvPr>
        </p:nvSpPr>
        <p:spPr>
          <a:xfrm>
            <a:off x="1297500" y="1567550"/>
            <a:ext cx="41364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Github Repositories</a:t>
            </a:r>
            <a:endParaRPr b="1"/>
          </a:p>
          <a:p>
            <a:pPr indent="-311150" lvl="0" marL="457200" rtl="0" algn="l">
              <a:spcBef>
                <a:spcPts val="1200"/>
              </a:spcBef>
              <a:spcAft>
                <a:spcPts val="0"/>
              </a:spcAft>
              <a:buSzPts val="1300"/>
              <a:buChar char="●"/>
            </a:pPr>
            <a:r>
              <a:rPr lang="en"/>
              <a:t>Github allowed us to view, edit, and share our developments and progress on the code</a:t>
            </a:r>
            <a:endParaRPr/>
          </a:p>
          <a:p>
            <a:pPr indent="-311150" lvl="0" marL="457200" rtl="0" algn="l">
              <a:spcBef>
                <a:spcPts val="0"/>
              </a:spcBef>
              <a:spcAft>
                <a:spcPts val="0"/>
              </a:spcAft>
              <a:buSzPts val="1300"/>
              <a:buChar char="●"/>
            </a:pPr>
            <a:r>
              <a:rPr lang="en"/>
              <a:t>Allowed us to merge files and overwrite old ones</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t>Github Issues</a:t>
            </a:r>
            <a:endParaRPr/>
          </a:p>
          <a:p>
            <a:pPr indent="-311150" lvl="0" marL="457200" rtl="0" algn="l">
              <a:spcBef>
                <a:spcPts val="1200"/>
              </a:spcBef>
              <a:spcAft>
                <a:spcPts val="0"/>
              </a:spcAft>
              <a:buSzPts val="1300"/>
              <a:buChar char="●"/>
            </a:pPr>
            <a:r>
              <a:rPr lang="en"/>
              <a:t>Allowed us to record and report bugs or problems to the team</a:t>
            </a:r>
            <a:endParaRPr/>
          </a:p>
          <a:p>
            <a:pPr indent="-311150" lvl="0" marL="457200" rtl="0" algn="l">
              <a:spcBef>
                <a:spcPts val="0"/>
              </a:spcBef>
              <a:spcAft>
                <a:spcPts val="0"/>
              </a:spcAft>
              <a:buSzPts val="1300"/>
              <a:buChar char="●"/>
            </a:pPr>
            <a:r>
              <a:rPr lang="en"/>
              <a:t>People can resolve these when completed</a:t>
            </a:r>
            <a:endParaRPr/>
          </a:p>
        </p:txBody>
      </p:sp>
      <p:pic>
        <p:nvPicPr>
          <p:cNvPr id="259" name="Google Shape;259;p26"/>
          <p:cNvPicPr preferRelativeResize="0"/>
          <p:nvPr/>
        </p:nvPicPr>
        <p:blipFill>
          <a:blip r:embed="rId3">
            <a:alphaModFix/>
          </a:blip>
          <a:stretch>
            <a:fillRect/>
          </a:stretch>
        </p:blipFill>
        <p:spPr>
          <a:xfrm>
            <a:off x="5896450" y="1567550"/>
            <a:ext cx="2857500" cy="1600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2">
                                  <p:stCondLst>
                                    <p:cond delay="0"/>
                                  </p:stCondLst>
                                  <p:childTnLst>
                                    <p:set>
                                      <p:cBhvr>
                                        <p:cTn dur="1" fill="hold">
                                          <p:stCondLst>
                                            <p:cond delay="0"/>
                                          </p:stCondLst>
                                        </p:cTn>
                                        <p:tgtEl>
                                          <p:spTgt spid="259"/>
                                        </p:tgtEl>
                                        <p:attrNameLst>
                                          <p:attrName>style.visibility</p:attrName>
                                        </p:attrNameLst>
                                      </p:cBhvr>
                                      <p:to>
                                        <p:strVal val="visible"/>
                                      </p:to>
                                    </p:set>
                                    <p:anim calcmode="lin" valueType="num">
                                      <p:cBhvr additive="base">
                                        <p:cTn dur="1000"/>
                                        <p:tgtEl>
                                          <p:spTgt spid="25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7"/>
          <p:cNvSpPr txBox="1"/>
          <p:nvPr>
            <p:ph type="title"/>
          </p:nvPr>
        </p:nvSpPr>
        <p:spPr>
          <a:xfrm>
            <a:off x="1726650" y="919550"/>
            <a:ext cx="56907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100"/>
              <a:t>What Worked (Or Did Not)</a:t>
            </a:r>
            <a:endParaRPr b="1" sz="3100"/>
          </a:p>
        </p:txBody>
      </p:sp>
      <p:sp>
        <p:nvSpPr>
          <p:cNvPr id="265" name="Google Shape;265;p27"/>
          <p:cNvSpPr/>
          <p:nvPr/>
        </p:nvSpPr>
        <p:spPr>
          <a:xfrm>
            <a:off x="6223150" y="1506825"/>
            <a:ext cx="1828800" cy="1787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Instruction</a:t>
            </a:r>
            <a:endParaRPr b="1">
              <a:latin typeface="Lato"/>
              <a:ea typeface="Lato"/>
              <a:cs typeface="Lato"/>
              <a:sym typeface="Lato"/>
            </a:endParaRPr>
          </a:p>
        </p:txBody>
      </p:sp>
      <p:sp>
        <p:nvSpPr>
          <p:cNvPr id="266" name="Google Shape;266;p27"/>
          <p:cNvSpPr/>
          <p:nvPr/>
        </p:nvSpPr>
        <p:spPr>
          <a:xfrm>
            <a:off x="985275" y="1662225"/>
            <a:ext cx="2606100" cy="2583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Communication</a:t>
            </a:r>
            <a:endParaRPr b="1">
              <a:latin typeface="Lato"/>
              <a:ea typeface="Lato"/>
              <a:cs typeface="Lato"/>
              <a:sym typeface="Lato"/>
            </a:endParaRPr>
          </a:p>
        </p:txBody>
      </p:sp>
      <p:sp>
        <p:nvSpPr>
          <p:cNvPr id="267" name="Google Shape;267;p27"/>
          <p:cNvSpPr/>
          <p:nvPr/>
        </p:nvSpPr>
        <p:spPr>
          <a:xfrm>
            <a:off x="4169950" y="2827775"/>
            <a:ext cx="1718700" cy="16488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Assignments</a:t>
            </a:r>
            <a:endParaRPr b="1">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266"/>
                                        </p:tgtEl>
                                        <p:attrNameLst>
                                          <p:attrName>style.visibility</p:attrName>
                                        </p:attrNameLst>
                                      </p:cBhvr>
                                      <p:to>
                                        <p:strVal val="visible"/>
                                      </p:to>
                                    </p:set>
                                    <p:anim calcmode="lin" valueType="num">
                                      <p:cBhvr additive="base">
                                        <p:cTn dur="1000"/>
                                        <p:tgtEl>
                                          <p:spTgt spid="26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267"/>
                                        </p:tgtEl>
                                        <p:attrNameLst>
                                          <p:attrName>style.visibility</p:attrName>
                                        </p:attrNameLst>
                                      </p:cBhvr>
                                      <p:to>
                                        <p:strVal val="visible"/>
                                      </p:to>
                                    </p:set>
                                    <p:anim calcmode="lin" valueType="num">
                                      <p:cBhvr additive="base">
                                        <p:cTn dur="1000"/>
                                        <p:tgtEl>
                                          <p:spTgt spid="26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0"/>
                                  </p:stCondLst>
                                  <p:childTnLst>
                                    <p:set>
                                      <p:cBhvr>
                                        <p:cTn dur="1" fill="hold">
                                          <p:stCondLst>
                                            <p:cond delay="0"/>
                                          </p:stCondLst>
                                        </p:cTn>
                                        <p:tgtEl>
                                          <p:spTgt spid="265"/>
                                        </p:tgtEl>
                                        <p:attrNameLst>
                                          <p:attrName>style.visibility</p:attrName>
                                        </p:attrNameLst>
                                      </p:cBhvr>
                                      <p:to>
                                        <p:strVal val="visible"/>
                                      </p:to>
                                    </p:set>
                                    <p:anim calcmode="lin" valueType="num">
                                      <p:cBhvr additive="base">
                                        <p:cTn dur="1000"/>
                                        <p:tgtEl>
                                          <p:spTgt spid="26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Worked/Didn’t Work</a:t>
            </a:r>
            <a:endParaRPr/>
          </a:p>
        </p:txBody>
      </p:sp>
      <p:pic>
        <p:nvPicPr>
          <p:cNvPr id="273" name="Google Shape;273;p28"/>
          <p:cNvPicPr preferRelativeResize="0"/>
          <p:nvPr/>
        </p:nvPicPr>
        <p:blipFill>
          <a:blip r:embed="rId3">
            <a:alphaModFix/>
          </a:blip>
          <a:stretch>
            <a:fillRect/>
          </a:stretch>
        </p:blipFill>
        <p:spPr>
          <a:xfrm>
            <a:off x="1297488" y="1307838"/>
            <a:ext cx="2143125" cy="2143125"/>
          </a:xfrm>
          <a:prstGeom prst="rect">
            <a:avLst/>
          </a:prstGeom>
          <a:noFill/>
          <a:ln>
            <a:noFill/>
          </a:ln>
        </p:spPr>
      </p:pic>
      <p:pic>
        <p:nvPicPr>
          <p:cNvPr id="274" name="Google Shape;274;p28"/>
          <p:cNvPicPr preferRelativeResize="0"/>
          <p:nvPr/>
        </p:nvPicPr>
        <p:blipFill>
          <a:blip r:embed="rId4">
            <a:alphaModFix/>
          </a:blip>
          <a:stretch>
            <a:fillRect/>
          </a:stretch>
        </p:blipFill>
        <p:spPr>
          <a:xfrm>
            <a:off x="4993182" y="1493205"/>
            <a:ext cx="3495992" cy="1957775"/>
          </a:xfrm>
          <a:prstGeom prst="rect">
            <a:avLst/>
          </a:prstGeom>
          <a:noFill/>
          <a:ln>
            <a:noFill/>
          </a:ln>
        </p:spPr>
      </p:pic>
      <p:sp>
        <p:nvSpPr>
          <p:cNvPr id="275" name="Google Shape;275;p28"/>
          <p:cNvSpPr txBox="1"/>
          <p:nvPr/>
        </p:nvSpPr>
        <p:spPr>
          <a:xfrm>
            <a:off x="1297463" y="3621725"/>
            <a:ext cx="2143200" cy="5850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Planning</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Task Assignment</a:t>
            </a:r>
            <a:endParaRPr sz="1300">
              <a:solidFill>
                <a:schemeClr val="lt1"/>
              </a:solidFill>
              <a:latin typeface="Lato"/>
              <a:ea typeface="Lato"/>
              <a:cs typeface="Lato"/>
              <a:sym typeface="Lato"/>
            </a:endParaRPr>
          </a:p>
        </p:txBody>
      </p:sp>
      <p:sp>
        <p:nvSpPr>
          <p:cNvPr id="276" name="Google Shape;276;p28"/>
          <p:cNvSpPr txBox="1"/>
          <p:nvPr/>
        </p:nvSpPr>
        <p:spPr>
          <a:xfrm>
            <a:off x="5669575" y="3721775"/>
            <a:ext cx="2143200" cy="3849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Communication</a:t>
            </a:r>
            <a:endParaRPr sz="1300">
              <a:solidFill>
                <a:schemeClr val="l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273"/>
                                        </p:tgtEl>
                                        <p:attrNameLst>
                                          <p:attrName>style.visibility</p:attrName>
                                        </p:attrNameLst>
                                      </p:cBhvr>
                                      <p:to>
                                        <p:strVal val="visible"/>
                                      </p:to>
                                    </p:set>
                                    <p:anim calcmode="lin" valueType="num">
                                      <p:cBhvr additive="base">
                                        <p:cTn dur="1000"/>
                                        <p:tgtEl>
                                          <p:spTgt spid="27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74"/>
                                        </p:tgtEl>
                                        <p:attrNameLst>
                                          <p:attrName>style.visibility</p:attrName>
                                        </p:attrNameLst>
                                      </p:cBhvr>
                                      <p:to>
                                        <p:strVal val="visible"/>
                                      </p:to>
                                    </p:set>
                                    <p:anim calcmode="lin" valueType="num">
                                      <p:cBhvr additive="base">
                                        <p:cTn dur="1000"/>
                                        <p:tgtEl>
                                          <p:spTgt spid="27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Trello</a:t>
            </a:r>
            <a:endParaRPr/>
          </a:p>
        </p:txBody>
      </p:sp>
      <p:sp>
        <p:nvSpPr>
          <p:cNvPr id="282" name="Google Shape;282;p2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3" name="Google Shape;283;p29"/>
          <p:cNvPicPr preferRelativeResize="0"/>
          <p:nvPr/>
        </p:nvPicPr>
        <p:blipFill>
          <a:blip r:embed="rId3">
            <a:alphaModFix/>
          </a:blip>
          <a:stretch>
            <a:fillRect/>
          </a:stretch>
        </p:blipFill>
        <p:spPr>
          <a:xfrm>
            <a:off x="1297500" y="1230225"/>
            <a:ext cx="6701151" cy="3585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0"/>
          <p:cNvSpPr txBox="1"/>
          <p:nvPr>
            <p:ph type="title"/>
          </p:nvPr>
        </p:nvSpPr>
        <p:spPr>
          <a:xfrm>
            <a:off x="1726650" y="919550"/>
            <a:ext cx="56907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100"/>
              <a:t>Course Reflections</a:t>
            </a:r>
            <a:endParaRPr b="1" sz="3100"/>
          </a:p>
        </p:txBody>
      </p:sp>
      <p:sp>
        <p:nvSpPr>
          <p:cNvPr id="289" name="Google Shape;289;p30"/>
          <p:cNvSpPr/>
          <p:nvPr/>
        </p:nvSpPr>
        <p:spPr>
          <a:xfrm>
            <a:off x="7111275" y="530625"/>
            <a:ext cx="1398600" cy="13632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Deadlines</a:t>
            </a:r>
            <a:endParaRPr b="1">
              <a:latin typeface="Lato"/>
              <a:ea typeface="Lato"/>
              <a:cs typeface="Lato"/>
              <a:sym typeface="Lato"/>
            </a:endParaRPr>
          </a:p>
        </p:txBody>
      </p:sp>
      <p:sp>
        <p:nvSpPr>
          <p:cNvPr id="290" name="Google Shape;290;p30"/>
          <p:cNvSpPr/>
          <p:nvPr/>
        </p:nvSpPr>
        <p:spPr>
          <a:xfrm>
            <a:off x="413275" y="1585725"/>
            <a:ext cx="2115000" cy="2050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Preparedness</a:t>
            </a:r>
            <a:endParaRPr b="1">
              <a:latin typeface="Lato"/>
              <a:ea typeface="Lato"/>
              <a:cs typeface="Lato"/>
              <a:sym typeface="Lato"/>
            </a:endParaRPr>
          </a:p>
        </p:txBody>
      </p:sp>
      <p:sp>
        <p:nvSpPr>
          <p:cNvPr id="291" name="Google Shape;291;p30"/>
          <p:cNvSpPr/>
          <p:nvPr/>
        </p:nvSpPr>
        <p:spPr>
          <a:xfrm>
            <a:off x="6265925" y="2370575"/>
            <a:ext cx="2602200" cy="256110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Real World Application</a:t>
            </a:r>
            <a:endParaRPr b="1">
              <a:latin typeface="Lato"/>
              <a:ea typeface="Lato"/>
              <a:cs typeface="Lato"/>
              <a:sym typeface="Lato"/>
            </a:endParaRPr>
          </a:p>
        </p:txBody>
      </p:sp>
      <p:sp>
        <p:nvSpPr>
          <p:cNvPr id="292" name="Google Shape;292;p30"/>
          <p:cNvSpPr/>
          <p:nvPr/>
        </p:nvSpPr>
        <p:spPr>
          <a:xfrm>
            <a:off x="3173350" y="2467425"/>
            <a:ext cx="1812300" cy="1720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Lato"/>
                <a:ea typeface="Lato"/>
                <a:cs typeface="Lato"/>
                <a:sym typeface="Lato"/>
              </a:rPr>
              <a:t>Collaboration</a:t>
            </a:r>
            <a:endParaRPr b="1">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290"/>
                                        </p:tgtEl>
                                        <p:attrNameLst>
                                          <p:attrName>style.visibility</p:attrName>
                                        </p:attrNameLst>
                                      </p:cBhvr>
                                      <p:to>
                                        <p:strVal val="visible"/>
                                      </p:to>
                                    </p:set>
                                    <p:anim calcmode="lin" valueType="num">
                                      <p:cBhvr additive="base">
                                        <p:cTn dur="1000"/>
                                        <p:tgtEl>
                                          <p:spTgt spid="29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292"/>
                                        </p:tgtEl>
                                        <p:attrNameLst>
                                          <p:attrName>style.visibility</p:attrName>
                                        </p:attrNameLst>
                                      </p:cBhvr>
                                      <p:to>
                                        <p:strVal val="visible"/>
                                      </p:to>
                                    </p:set>
                                    <p:anim calcmode="lin" valueType="num">
                                      <p:cBhvr additive="base">
                                        <p:cTn dur="1000"/>
                                        <p:tgtEl>
                                          <p:spTgt spid="2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0"/>
                                  </p:stCondLst>
                                  <p:childTnLst>
                                    <p:set>
                                      <p:cBhvr>
                                        <p:cTn dur="1" fill="hold">
                                          <p:stCondLst>
                                            <p:cond delay="0"/>
                                          </p:stCondLst>
                                        </p:cTn>
                                        <p:tgtEl>
                                          <p:spTgt spid="291"/>
                                        </p:tgtEl>
                                        <p:attrNameLst>
                                          <p:attrName>style.visibility</p:attrName>
                                        </p:attrNameLst>
                                      </p:cBhvr>
                                      <p:to>
                                        <p:strVal val="visible"/>
                                      </p:to>
                                    </p:set>
                                    <p:anim calcmode="lin" valueType="num">
                                      <p:cBhvr additive="base">
                                        <p:cTn dur="1000"/>
                                        <p:tgtEl>
                                          <p:spTgt spid="29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1">
                                  <p:stCondLst>
                                    <p:cond delay="0"/>
                                  </p:stCondLst>
                                  <p:childTnLst>
                                    <p:set>
                                      <p:cBhvr>
                                        <p:cTn dur="1" fill="hold">
                                          <p:stCondLst>
                                            <p:cond delay="0"/>
                                          </p:stCondLst>
                                        </p:cTn>
                                        <p:tgtEl>
                                          <p:spTgt spid="289"/>
                                        </p:tgtEl>
                                        <p:attrNameLst>
                                          <p:attrName>style.visibility</p:attrName>
                                        </p:attrNameLst>
                                      </p:cBhvr>
                                      <p:to>
                                        <p:strVal val="visible"/>
                                      </p:to>
                                    </p:set>
                                    <p:anim calcmode="lin" valueType="num">
                                      <p:cBhvr additive="base">
                                        <p:cTn dur="1000"/>
                                        <p:tgtEl>
                                          <p:spTgt spid="28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Reflection on the Course</a:t>
            </a:r>
            <a:endParaRPr/>
          </a:p>
        </p:txBody>
      </p:sp>
      <p:pic>
        <p:nvPicPr>
          <p:cNvPr id="298" name="Google Shape;298;p31"/>
          <p:cNvPicPr preferRelativeResize="0"/>
          <p:nvPr/>
        </p:nvPicPr>
        <p:blipFill>
          <a:blip r:embed="rId3">
            <a:alphaModFix/>
          </a:blip>
          <a:stretch>
            <a:fillRect/>
          </a:stretch>
        </p:blipFill>
        <p:spPr>
          <a:xfrm>
            <a:off x="2994199" y="1440550"/>
            <a:ext cx="2977818" cy="2911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298"/>
                                        </p:tgtEl>
                                        <p:attrNameLst>
                                          <p:attrName>style.visibility</p:attrName>
                                        </p:attrNameLst>
                                      </p:cBhvr>
                                      <p:to>
                                        <p:strVal val="visible"/>
                                      </p:to>
                                    </p:set>
                                    <p:anim calcmode="lin" valueType="num">
                                      <p:cBhvr additive="base">
                                        <p:cTn dur="2500"/>
                                        <p:tgtEl>
                                          <p:spTgt spid="298"/>
                                        </p:tgtEl>
                                        <p:attrNameLst>
                                          <p:attrName>ppt_w</p:attrName>
                                        </p:attrNameLst>
                                      </p:cBhvr>
                                      <p:tavLst>
                                        <p:tav fmla="" tm="0">
                                          <p:val>
                                            <p:strVal val="0"/>
                                          </p:val>
                                        </p:tav>
                                        <p:tav fmla="" tm="100000">
                                          <p:val>
                                            <p:strVal val="#ppt_w"/>
                                          </p:val>
                                        </p:tav>
                                      </p:tavLst>
                                    </p:anim>
                                    <p:anim calcmode="lin" valueType="num">
                                      <p:cBhvr additive="base">
                                        <p:cTn dur="2500"/>
                                        <p:tgtEl>
                                          <p:spTgt spid="29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Sources</a:t>
            </a:r>
            <a:endParaRPr/>
          </a:p>
        </p:txBody>
      </p:sp>
      <p:sp>
        <p:nvSpPr>
          <p:cNvPr id="304" name="Google Shape;304;p32"/>
          <p:cNvSpPr txBox="1"/>
          <p:nvPr>
            <p:ph idx="1" type="body"/>
          </p:nvPr>
        </p:nvSpPr>
        <p:spPr>
          <a:xfrm>
            <a:off x="1297500" y="930400"/>
            <a:ext cx="7038900" cy="3548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https://cms.rootstack.com/sites/default/files/inline-images/Python-Symbol_1.png</a:t>
            </a:r>
            <a:endParaRPr/>
          </a:p>
          <a:p>
            <a:pPr indent="0" lvl="0" marL="0" rtl="0" algn="l">
              <a:spcBef>
                <a:spcPts val="1200"/>
              </a:spcBef>
              <a:spcAft>
                <a:spcPts val="0"/>
              </a:spcAft>
              <a:buNone/>
            </a:pPr>
            <a:r>
              <a:rPr lang="en" u="sng">
                <a:solidFill>
                  <a:schemeClr val="hlink"/>
                </a:solidFill>
                <a:hlinkClick r:id="rId4"/>
              </a:rPr>
              <a:t>https://blog.logomyway.com/wp-content/uploads/2023/08/chatgpt-logo.png</a:t>
            </a:r>
            <a:endParaRPr/>
          </a:p>
          <a:p>
            <a:pPr indent="0" lvl="0" marL="0" rtl="0" algn="l">
              <a:spcBef>
                <a:spcPts val="1200"/>
              </a:spcBef>
              <a:spcAft>
                <a:spcPts val="0"/>
              </a:spcAft>
              <a:buNone/>
            </a:pPr>
            <a:r>
              <a:rPr lang="en" u="sng">
                <a:solidFill>
                  <a:schemeClr val="hlink"/>
                </a:solidFill>
                <a:hlinkClick r:id="rId5"/>
              </a:rPr>
              <a:t>https://miro.medium.com/v2/resize:fit:1200/0*pxb9-4jdzxSp1K5Y.png</a:t>
            </a:r>
            <a:endParaRPr/>
          </a:p>
          <a:p>
            <a:pPr indent="0" lvl="0" marL="0" rtl="0" algn="l">
              <a:spcBef>
                <a:spcPts val="1200"/>
              </a:spcBef>
              <a:spcAft>
                <a:spcPts val="0"/>
              </a:spcAft>
              <a:buNone/>
            </a:pPr>
            <a:r>
              <a:rPr lang="en" u="sng">
                <a:solidFill>
                  <a:schemeClr val="hlink"/>
                </a:solidFill>
                <a:hlinkClick r:id="rId6"/>
              </a:rPr>
              <a:t>https://encrypted-tbn0.gstatic.com/images?q=tbn:ANd9GcTGvBkbnHUDax7JvpD-qs8Y_MKrD8ncQfJDSw&amp;usqp=CAU</a:t>
            </a:r>
            <a:endParaRPr/>
          </a:p>
          <a:p>
            <a:pPr indent="0" lvl="0" marL="0" rtl="0" algn="l">
              <a:spcBef>
                <a:spcPts val="1200"/>
              </a:spcBef>
              <a:spcAft>
                <a:spcPts val="0"/>
              </a:spcAft>
              <a:buNone/>
            </a:pPr>
            <a:r>
              <a:rPr lang="en" u="sng">
                <a:solidFill>
                  <a:schemeClr val="hlink"/>
                </a:solidFill>
                <a:hlinkClick r:id="rId7"/>
              </a:rPr>
              <a:t>https://www.teambonding.com/wp-content/uploads/2022/02/Depositphotos_79692920_L.jpg</a:t>
            </a:r>
            <a:endParaRPr/>
          </a:p>
          <a:p>
            <a:pPr indent="0" lvl="0" marL="0" rtl="0" algn="l">
              <a:spcBef>
                <a:spcPts val="1200"/>
              </a:spcBef>
              <a:spcAft>
                <a:spcPts val="0"/>
              </a:spcAft>
              <a:buNone/>
            </a:pPr>
            <a:r>
              <a:rPr lang="en" u="sng">
                <a:solidFill>
                  <a:schemeClr val="hlink"/>
                </a:solidFill>
                <a:hlinkClick r:id="rId8"/>
              </a:rPr>
              <a:t>https://encrypted-tbn0.gstatic.com/images?q=tbn:ANd9GcQ7d7pBYgG7CVXeqI4_0ZgG7CaZaeb9wr6KPg&amp;usqp=CAU</a:t>
            </a:r>
            <a:endParaRPr/>
          </a:p>
          <a:p>
            <a:pPr indent="0" lvl="0" marL="0" rtl="0" algn="l">
              <a:spcBef>
                <a:spcPts val="1200"/>
              </a:spcBef>
              <a:spcAft>
                <a:spcPts val="0"/>
              </a:spcAft>
              <a:buNone/>
            </a:pPr>
            <a:r>
              <a:rPr lang="en" u="sng">
                <a:solidFill>
                  <a:schemeClr val="hlink"/>
                </a:solidFill>
                <a:hlinkClick r:id="rId9"/>
              </a:rPr>
              <a:t>https://www.lflegal.com/wp-content/uploads/2021/09/discord-new-logo.jpg</a:t>
            </a:r>
            <a:endParaRPr/>
          </a:p>
          <a:p>
            <a:pPr indent="0" lvl="0" marL="0" rtl="0" algn="l">
              <a:spcBef>
                <a:spcPts val="1200"/>
              </a:spcBef>
              <a:spcAft>
                <a:spcPts val="1200"/>
              </a:spcAft>
              <a:buNone/>
            </a:pPr>
            <a:r>
              <a:rPr lang="en" u="sng">
                <a:solidFill>
                  <a:schemeClr val="hlink"/>
                </a:solidFill>
                <a:hlinkClick r:id="rId10"/>
              </a:rPr>
              <a:t>https://1000logos.net/wp-content/uploads/2021/05/GitHub-logo.png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